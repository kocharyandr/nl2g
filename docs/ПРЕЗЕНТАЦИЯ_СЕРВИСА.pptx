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Сервис" id="{fd84996e-b33d-e515-d92e-006d6d57df0c}">
          <p14:sldIdLst>
            <p14:sldId id="256"/>
            <p14:sldId id="257"/>
            <p14:sldId id="258"/>
          </p14:sldIdLst>
        </p14:section>
        <p14:section name="Как это работает" id="{3bca0271-a9d3-a402-88c6-e8a9fa714836}">
          <p14:sldIdLst>
            <p14:sldId id="259"/>
            <p14:sldId id="260"/>
            <p14:sldId id="261"/>
          </p14:sldIdLst>
        </p14:section>
        <p14:section name="Насколько это работает" id="{c7c3b167-8cc3-a102-dee6-c6fd5401509e}">
          <p14:sldIdLst>
            <p14:sldId id="262"/>
            <p14:sldId id="263"/>
            <p14:sldId id="264"/>
            <p14:sldId id="265"/>
          </p14:sldIdLst>
        </p14:section>
        <p14:section name="Как расти" id="{d3f7d41b-b385-f39e-3e54-a2ba1cf69181}">
          <p14:sldIdLst>
            <p14:sldId id="266"/>
            <p14:sldId id="267"/>
            <p14:sldId id="268"/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Это не про технологии, а про сервис: человек задаёт вопрос обычным языком и получает график из базы. Дальше — как это работает, насколько точно, что стоит и как расти.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Проблема не в сложности вопросов, а в том, что между вопросом и картинкой стоят люди и очередь. Сервис убирает эту очередь для типовых вопросов.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Скриншот настоящий. Обратите внимание на свёрнутый блок «SQL-запрос» под графиком — любой ответ можно проверить.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Пять шагов. Ключевой — второй: сервис выполняет написанный запрос и смотрит на результат, как сделал бы аналитик.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Модули — отдельные сервисы, их можно менять и масштабировать независимо. Специалист по данным выделен: это самая обученная часть системы.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Пара «до — после» из прогона на открытых данных. Фраза пользователя дословно в заголовке правой картинки.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Цифры из отчёта ГРАФИКИ_PAUQ_ОТЧЁТ.html, каждый вопрос можно открыть и увидеть запрос, эталон и график. Разрыв между русским и английским — 8 пунктов, статистически значим.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Та же закономерность, что в исследовании на английских данных: чем сложнее просьба, тем выше риск исказить график.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Это ограничение железа, а не архитектуры: модули независимы и на сервере работают одновременно.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Вопрос, который задают первым: что сервис может натворить в базе. Ответ — ничего: только чтение, лимиты, изоляция.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Узкое место при росте — художник: 97% времени цикла. Его масштабируют числом видеокарт и очередью, остальное — обычными копиями сервисов.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Список честный: это то, что нашли на замерах, а не предположения. У каждого пункта есть понятный следующий шаг.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Пилот нужен не для демонстрации, а для цифр на реальных данных: точность на открытом наборе и на базе отдела — разные вещи.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Закрываем тем, с чего начали: вопрос — график — проверяемый ответ. Следующий шаг — пилот на реальной базе.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57200"/>
            <a:ext cx="11091672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A94A6"/>
                </a:solidFill>
              </a:rPr>
              <a:t>NL2G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4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F2A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57200"/>
            <a:ext cx="11091672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FB3C8"/>
                </a:solidFill>
              </a:rPr>
              <a:t>NL2G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FB3C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1F2A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4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7315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9FB3C8"/>
                </a:solidFill>
              </a:rPr>
              <a:t>NL2G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96012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Спросил по-русски — получил график из базы данных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931920"/>
            <a:ext cx="8412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9D3DF"/>
                </a:solidFill>
              </a:rPr>
              <a:t>Сервис отвечает на вопросы к корпоративной базе готовыми графиками. Без аналитика, без SQL, без ожидания. Вопрос — и через минуту картинка, которую можно переделать словами.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57607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FB3C8"/>
                </a:solidFill>
              </a:rPr>
              <a:t>Защита проекта · октябрь 2026 · github.com/kocharyandr/nl2g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5720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Между вопросом и графиком сегодня стоит очередь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2066544" cy="1737360"/>
          </a:xfrm>
          <a:prstGeom prst="roundRect">
            <a:avLst>
              <a:gd name="adj" fmla="val 5263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49808" y="1920240"/>
            <a:ext cx="16642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2A37"/>
                </a:solidFill>
              </a:rPr>
              <a:t>Руководитель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749808" y="2523744"/>
            <a:ext cx="1664208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4B5563"/>
                </a:solidFill>
              </a:rPr>
              <a:t>«Сколько продали по городам в этом квартале?»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2633472" y="2606040"/>
            <a:ext cx="146304" cy="0"/>
          </a:xfrm>
          <a:prstGeom prst="line">
            <a:avLst/>
          </a:prstGeom>
          <a:noFill/>
          <a:ln w="28575">
            <a:solidFill>
              <a:srgbClr val="8A94A6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2798064" y="1737360"/>
            <a:ext cx="2066544" cy="1737360"/>
          </a:xfrm>
          <a:prstGeom prst="roundRect">
            <a:avLst>
              <a:gd name="adj" fmla="val 5263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999232" y="1920240"/>
            <a:ext cx="16642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2A37"/>
                </a:solidFill>
              </a:rPr>
              <a:t>Заявка аналитику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2999232" y="2523744"/>
            <a:ext cx="1664208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4B5563"/>
                </a:solidFill>
              </a:rPr>
              <a:t>письмо или задача в трекере, ожидание очереди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882896" y="2606040"/>
            <a:ext cx="146304" cy="0"/>
          </a:xfrm>
          <a:prstGeom prst="line">
            <a:avLst/>
          </a:prstGeom>
          <a:noFill/>
          <a:ln w="28575">
            <a:solidFill>
              <a:srgbClr val="8A94A6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5047488" y="1737360"/>
            <a:ext cx="2066544" cy="1737360"/>
          </a:xfrm>
          <a:prstGeom prst="roundRect">
            <a:avLst>
              <a:gd name="adj" fmla="val 5263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248656" y="1920240"/>
            <a:ext cx="16642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2A37"/>
                </a:solidFill>
              </a:rPr>
              <a:t>Аналитик пишет SQL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5248656" y="2523744"/>
            <a:ext cx="1664208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4B5563"/>
                </a:solidFill>
              </a:rPr>
              <a:t>ищет нужные таблицы, уточняет вопрос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132320" y="2606040"/>
            <a:ext cx="146304" cy="0"/>
          </a:xfrm>
          <a:prstGeom prst="line">
            <a:avLst/>
          </a:prstGeom>
          <a:noFill/>
          <a:ln w="28575">
            <a:solidFill>
              <a:srgbClr val="8A94A6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7296912" y="1737360"/>
            <a:ext cx="2066544" cy="1737360"/>
          </a:xfrm>
          <a:prstGeom prst="roundRect">
            <a:avLst>
              <a:gd name="adj" fmla="val 5263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498080" y="1920240"/>
            <a:ext cx="16642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2A37"/>
                </a:solidFill>
              </a:rPr>
              <a:t>Строит график в BI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7498080" y="2523744"/>
            <a:ext cx="1664208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4B5563"/>
                </a:solidFill>
              </a:rPr>
              <a:t>подбирает тип, подписи, цвета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9381744" y="2606040"/>
            <a:ext cx="146304" cy="0"/>
          </a:xfrm>
          <a:prstGeom prst="line">
            <a:avLst/>
          </a:prstGeom>
          <a:noFill/>
          <a:ln w="28575">
            <a:solidFill>
              <a:srgbClr val="8A94A6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9546336" y="1737360"/>
            <a:ext cx="2066544" cy="1737360"/>
          </a:xfrm>
          <a:prstGeom prst="roundRect">
            <a:avLst>
              <a:gd name="adj" fmla="val 5263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747504" y="1920240"/>
            <a:ext cx="16642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2A37"/>
                </a:solidFill>
              </a:rPr>
              <a:t>Ответ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9747504" y="2523744"/>
            <a:ext cx="1664208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4B5563"/>
                </a:solidFill>
              </a:rPr>
              <a:t>через часы или дни; на уточнение — заново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48640" y="3931920"/>
            <a:ext cx="11091672" cy="1737360"/>
          </a:xfrm>
          <a:prstGeom prst="roundRect">
            <a:avLst>
              <a:gd name="adj" fmla="val 5263"/>
            </a:avLst>
          </a:prstGeom>
          <a:solidFill>
            <a:srgbClr val="1F2A37"/>
          </a:solidFill>
          <a:ln w="12700">
            <a:solidFill>
              <a:srgbClr val="1F2A37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22960" y="41148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Что здесь дорого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822960" y="4526280"/>
            <a:ext cx="105430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C9D3DF"/>
                </a:solidFill>
              </a:rPr>
              <a:t>Каждая стрелка — это человек и ожидание. Простой вопрос занимает время аналитика, а руководитель к моменту ответа уже задал следующий. Уточнение «а теперь по месяцам» запускает весь круг заново.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4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5720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Вопрос в чат — через минуту график и запрос, которым он получен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474720" y="1600200"/>
            <a:ext cx="4023360" cy="502920"/>
          </a:xfrm>
          <a:prstGeom prst="roundRect">
            <a:avLst>
              <a:gd name="adj" fmla="val 45455"/>
            </a:avLst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474720" y="160020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построй график выручки по городам</a:t>
            </a:r>
            <a:endParaRPr lang="en-US" sz="1300" dirty="0"/>
          </a:p>
        </p:txBody>
      </p:sp>
      <p:pic>
        <p:nvPicPr>
          <p:cNvPr id="5" name="Image 0" descr="chat_cr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240280"/>
            <a:ext cx="4206240" cy="383133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937760" y="2240280"/>
            <a:ext cx="2560320" cy="3831336"/>
          </a:xfrm>
          <a:prstGeom prst="roundRect">
            <a:avLst>
              <a:gd name="adj" fmla="val 3571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120640" y="24231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C7C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68 секунд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5120640" y="3017520"/>
            <a:ext cx="21945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</a:rPr>
              <a:t>от вопроса до ответа: график, пояснение на русском, число строк и свёрнутый блок с запросом к базе.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</a:rPr>
              <a:t>Ниже на экране — кнопки «Подтвердить» и «Отмена».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612648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A94A6"/>
                </a:solidFill>
              </a:rPr>
              <a:t>Реальный экран сервиса, база «Розничная сеть»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7772400" y="1554480"/>
            <a:ext cx="3867912" cy="1371600"/>
          </a:xfrm>
          <a:prstGeom prst="roundRect">
            <a:avLst>
              <a:gd name="adj" fmla="val 6667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973568" y="1737360"/>
            <a:ext cx="34655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2A37"/>
                </a:solidFill>
              </a:rPr>
              <a:t>Спрашивают как есть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7973568" y="2249424"/>
            <a:ext cx="3465576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4B5563"/>
                </a:solidFill>
              </a:rPr>
              <a:t>«выручка по городам», «топ-5 товаров», «сколько магазинов в каждом городе» — без названий таблиц и полей.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7772400" y="3063240"/>
            <a:ext cx="3867912" cy="1371600"/>
          </a:xfrm>
          <a:prstGeom prst="roundRect">
            <a:avLst>
              <a:gd name="adj" fmla="val 6667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973568" y="3246120"/>
            <a:ext cx="34655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2A37"/>
                </a:solidFill>
              </a:rPr>
              <a:t>Видно, откуда цифры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7973568" y="3758184"/>
            <a:ext cx="3465576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4B5563"/>
                </a:solidFill>
              </a:rPr>
              <a:t>Под графиком лежит запрос к базе и число строк. Это проверяемый ответ, а не картинка на доверии.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7772400" y="4572000"/>
            <a:ext cx="3867912" cy="1463040"/>
          </a:xfrm>
          <a:prstGeom prst="roundRect">
            <a:avLst>
              <a:gd name="adj" fmla="val 6250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973568" y="4754880"/>
            <a:ext cx="34655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2A37"/>
                </a:solidFill>
              </a:rPr>
              <a:t>Правят словами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7973568" y="5266944"/>
            <a:ext cx="3465576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4B5563"/>
                </a:solidFill>
              </a:rPr>
              <a:t>«а теперь линией», «подпиши значения», «нарисуй в стиле акварели» — следующая версия приходит в тот же диалог.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4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5720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Пять шагов от вопроса до картинки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5440680" cy="1463040"/>
          </a:xfrm>
          <a:prstGeom prst="roundRect">
            <a:avLst>
              <a:gd name="adj" fmla="val 6250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737360"/>
            <a:ext cx="457200" cy="457200"/>
          </a:xfrm>
          <a:prstGeom prst="ellipse">
            <a:avLst/>
          </a:prstGeom>
          <a:solidFill>
            <a:srgbClr val="D98324"/>
          </a:solidFill>
          <a:ln w="12700">
            <a:solidFill>
              <a:srgbClr val="D9832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73736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37"/>
                </a:solidFill>
              </a:rPr>
              <a:t>Понять вопрос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2249424"/>
            <a:ext cx="5038344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4B5563"/>
                </a:solidFill>
              </a:rPr>
              <a:t>Сервис определяет, о чём спросили, и находит в базе нужные таблицы и поля. Если вопрос неясен — переспрашивает.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17920" y="1554480"/>
            <a:ext cx="5440680" cy="1463040"/>
          </a:xfrm>
          <a:prstGeom prst="roundRect">
            <a:avLst>
              <a:gd name="adj" fmla="val 6250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1737360"/>
            <a:ext cx="457200" cy="457200"/>
          </a:xfrm>
          <a:prstGeom prst="ellipse">
            <a:avLst/>
          </a:prstGeom>
          <a:solidFill>
            <a:srgbClr val="D98324"/>
          </a:solidFill>
          <a:ln w="12700">
            <a:solidFill>
              <a:srgbClr val="D9832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995160" y="173736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37"/>
                </a:solidFill>
              </a:rPr>
              <a:t>Получить данные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419088" y="2249424"/>
            <a:ext cx="5038344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4B5563"/>
                </a:solidFill>
              </a:rPr>
              <a:t>Пишет запрос к базе, выполняет его и сам проверяет результат. Если запрос упал или вернул не то — переписывает, до трёх раз.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154680"/>
            <a:ext cx="5440680" cy="1463040"/>
          </a:xfrm>
          <a:prstGeom prst="roundRect">
            <a:avLst>
              <a:gd name="adj" fmla="val 6250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1520" y="3337560"/>
            <a:ext cx="457200" cy="457200"/>
          </a:xfrm>
          <a:prstGeom prst="ellipse">
            <a:avLst/>
          </a:prstGeom>
          <a:solidFill>
            <a:srgbClr val="D98324"/>
          </a:solidFill>
          <a:ln w="12700">
            <a:solidFill>
              <a:srgbClr val="D9832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31520" y="3337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325880" y="333756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37"/>
                </a:solidFill>
              </a:rPr>
              <a:t>Построить график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749808" y="3849624"/>
            <a:ext cx="5038344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4B5563"/>
                </a:solidFill>
              </a:rPr>
              <a:t>Выбирает тип графика под данные и рисует его программным кодом — цифры на картинке в точности те, что в базе.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217920" y="3154680"/>
            <a:ext cx="5440680" cy="1463040"/>
          </a:xfrm>
          <a:prstGeom prst="roundRect">
            <a:avLst>
              <a:gd name="adj" fmla="val 6250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0" y="3337560"/>
            <a:ext cx="457200" cy="457200"/>
          </a:xfrm>
          <a:prstGeom prst="ellipse">
            <a:avLst/>
          </a:prstGeom>
          <a:solidFill>
            <a:srgbClr val="D98324"/>
          </a:solidFill>
          <a:ln w="12700">
            <a:solidFill>
              <a:srgbClr val="D9832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00800" y="3337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6995160" y="333756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37"/>
                </a:solidFill>
              </a:rPr>
              <a:t>Показать человеку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6419088" y="3849624"/>
            <a:ext cx="5038344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4B5563"/>
                </a:solidFill>
              </a:rPr>
              <a:t>Пользователь подтверждает график или правит словами: другой тип, цвет, подписи. Ничего не уходит дальше без его согласия.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48640" y="4754880"/>
            <a:ext cx="5440680" cy="1463040"/>
          </a:xfrm>
          <a:prstGeom prst="roundRect">
            <a:avLst>
              <a:gd name="adj" fmla="val 6250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31520" y="4937760"/>
            <a:ext cx="457200" cy="457200"/>
          </a:xfrm>
          <a:prstGeom prst="ellipse">
            <a:avLst/>
          </a:prstGeom>
          <a:solidFill>
            <a:srgbClr val="1C7C7D"/>
          </a:solidFill>
          <a:ln w="12700">
            <a:solidFill>
              <a:srgbClr val="1C7C7D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31520" y="4937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1325880" y="493776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37"/>
                </a:solidFill>
              </a:rPr>
              <a:t>Оформить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749808" y="5449824"/>
            <a:ext cx="5038344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4B5563"/>
                </a:solidFill>
              </a:rPr>
              <a:t>По желанию — художественная переработка картинки нейросетью (стиль компании, иллюстрация для отчёта). Автоматическая проверка следит, чтобы цифры не поплыли.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217920" y="4754880"/>
            <a:ext cx="5440680" cy="1463040"/>
          </a:xfrm>
          <a:prstGeom prst="roundRect">
            <a:avLst>
              <a:gd name="adj" fmla="val 6250"/>
            </a:avLst>
          </a:prstGeom>
          <a:solidFill>
            <a:srgbClr val="2B3949"/>
          </a:solidFill>
          <a:ln w="12700">
            <a:solidFill>
              <a:srgbClr val="2B3949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446520" y="48920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Где здесь человек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6446520" y="525780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9D3DF"/>
                </a:solidFill>
              </a:rPr>
              <a:t>Только на шаге 4. Всё до него — автоматически, всё после — по его команде. Это сознательное решение: сервис ускоряет аналитику, а не заменяет ответственность за цифры.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4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5720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Внутри — семь модулей, у каждого одна обязанность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2651760" cy="2103120"/>
          </a:xfrm>
          <a:prstGeom prst="roundRect">
            <a:avLst>
              <a:gd name="adj" fmla="val 4348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49808" y="1737360"/>
            <a:ext cx="22494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2A37"/>
                </a:solidFill>
              </a:rPr>
              <a:t>Диспетчер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749808" y="2203704"/>
            <a:ext cx="2249424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4B5563"/>
                </a:solidFill>
              </a:rPr>
              <a:t>Ведёт диалог, помнит контекст, решает, кому передать вопрос и когда спросить человека.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355848" y="1554480"/>
            <a:ext cx="2651760" cy="2103120"/>
          </a:xfrm>
          <a:prstGeom prst="roundRect">
            <a:avLst>
              <a:gd name="adj" fmla="val 4348"/>
            </a:avLst>
          </a:prstGeom>
          <a:solidFill>
            <a:srgbClr val="F1F3F6"/>
          </a:solidFill>
          <a:ln w="15875">
            <a:solidFill>
              <a:srgbClr val="D9832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557016" y="1737360"/>
            <a:ext cx="22494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2A37"/>
                </a:solidFill>
              </a:rPr>
              <a:t>Специалист по данным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3557016" y="2203704"/>
            <a:ext cx="2249424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4B5563"/>
                </a:solidFill>
              </a:rPr>
              <a:t>Три роли: находит таблицы, пишет запрос, проверяет его исполнением. Обучен на тысячах пар «вопрос — запрос».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163056" y="1554480"/>
            <a:ext cx="2651760" cy="2103120"/>
          </a:xfrm>
          <a:prstGeom prst="roundRect">
            <a:avLst>
              <a:gd name="adj" fmla="val 4348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364224" y="1737360"/>
            <a:ext cx="22494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2A37"/>
                </a:solidFill>
              </a:rPr>
              <a:t>Чертёжник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364224" y="2203704"/>
            <a:ext cx="2249424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4B5563"/>
                </a:solidFill>
              </a:rPr>
              <a:t>Превращает таблицу в график кодом. Работает в изолированном процессе с ограничением по времени.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970264" y="1554480"/>
            <a:ext cx="2651760" cy="2103120"/>
          </a:xfrm>
          <a:prstGeom prst="roundRect">
            <a:avLst>
              <a:gd name="adj" fmla="val 4348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171432" y="1737360"/>
            <a:ext cx="22494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2A37"/>
                </a:solidFill>
              </a:rPr>
              <a:t>Художник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9171432" y="2203704"/>
            <a:ext cx="2249424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4B5563"/>
                </a:solidFill>
              </a:rPr>
              <a:t>Нейросеть для картинок: перекрашивает, меняет форму элементов, добавляет иллюстрацию по описанию.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3794760"/>
            <a:ext cx="2651760" cy="2103120"/>
          </a:xfrm>
          <a:prstGeom prst="roundRect">
            <a:avLst>
              <a:gd name="adj" fmla="val 4348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49808" y="3977640"/>
            <a:ext cx="22494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2A37"/>
                </a:solidFill>
              </a:rPr>
              <a:t>Контролёр качества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749808" y="4443984"/>
            <a:ext cx="2249424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4B5563"/>
                </a:solidFill>
              </a:rPr>
              <a:t>Сравнивает картинку до и после правки по десяти признакам: что изменилось и не пострадали ли данные.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3355848" y="3794760"/>
            <a:ext cx="2651760" cy="2103120"/>
          </a:xfrm>
          <a:prstGeom prst="roundRect">
            <a:avLst>
              <a:gd name="adj" fmla="val 4348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557016" y="3977640"/>
            <a:ext cx="22494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2A37"/>
                </a:solidFill>
              </a:rPr>
              <a:t>Охрана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3557016" y="4443984"/>
            <a:ext cx="2249424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4B5563"/>
                </a:solidFill>
              </a:rPr>
              <a:t>Отсеивает недопустимые запросы и помогает быстро понять намерение без тяжёлой модели.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163056" y="3794760"/>
            <a:ext cx="2651760" cy="2103120"/>
          </a:xfrm>
          <a:prstGeom prst="roundRect">
            <a:avLst>
              <a:gd name="adj" fmla="val 4348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364224" y="3977640"/>
            <a:ext cx="22494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2A37"/>
                </a:solidFill>
              </a:rPr>
              <a:t>Память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6364224" y="4443984"/>
            <a:ext cx="2249424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4B5563"/>
                </a:solidFill>
              </a:rPr>
              <a:t>Хранит состояние каждого диалога, чтобы правки применялись к нужному графику и переживали перезапуск.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8970264" y="3794760"/>
            <a:ext cx="2651760" cy="2103120"/>
          </a:xfrm>
          <a:prstGeom prst="roundRect">
            <a:avLst>
              <a:gd name="adj" fmla="val 4348"/>
            </a:avLst>
          </a:prstGeom>
          <a:solidFill>
            <a:srgbClr val="2B3949"/>
          </a:solidFill>
          <a:ln w="12700">
            <a:solidFill>
              <a:srgbClr val="2B3949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171432" y="3977640"/>
            <a:ext cx="22494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Всё на своих серверах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9171432" y="4443984"/>
            <a:ext cx="2249424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C9D3DF"/>
                </a:solidFill>
              </a:rPr>
              <a:t>Модели работают локально: вопросы и данные из базы не покидают контур компании.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4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5720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Оформление меняется одной фразой, цифры остаются на месте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A94A6"/>
                </a:solidFill>
              </a:rPr>
              <a:t>ДО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6263640" y="1463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A94A6"/>
                </a:solidFill>
              </a:rPr>
              <a:t>ПОСЛЕ: «сделай столбцы ярко-красными, фон белый, оси чёрные»</a:t>
            </a:r>
            <a:endParaRPr lang="en-US" sz="1100" dirty="0"/>
          </a:p>
        </p:txBody>
      </p:sp>
      <p:pic>
        <p:nvPicPr>
          <p:cNvPr id="5" name="Image 0" descr="/Users/drkocharyan/education/matvey_chapter/current_system/sql_agent/МТС_ПРАВКИ/01_befo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83080"/>
            <a:ext cx="5394960" cy="3218688"/>
          </a:xfrm>
          <a:prstGeom prst="rect">
            <a:avLst/>
          </a:prstGeom>
        </p:spPr>
      </p:pic>
      <p:pic>
        <p:nvPicPr>
          <p:cNvPr id="6" name="Image 1" descr="/Users/drkocharyan/education/matvey_chapter/current_system/sql_agent/МТС_ПРАВКИ/01_aft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1783080"/>
            <a:ext cx="5394960" cy="3218688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5257800"/>
            <a:ext cx="11091672" cy="868680"/>
          </a:xfrm>
          <a:prstGeom prst="roundRect">
            <a:avLst>
              <a:gd name="adj" fmla="val 10526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777240" y="5349240"/>
            <a:ext cx="106344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</a:rPr>
              <a:t>Это правка картинки нейросетью, а не перерисовка кодом: подписи, значения и пропорции столбцов сохранены. Такие правки нужны, когда график идёт в отчёт или презентацию в фирменных цветах.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4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5720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Восемь графиков из десяти верны — поэтому под каждым есть запрос и кнопка подтверждения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0876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4B5563"/>
                </a:solidFill>
              </a:rPr>
              <a:t>Проверка на открытом русскоязычном наборе PAUQ: 100 вопросов к 19 базам, у каждого есть эталонный ответ. Считали честно: совпадение с эталоном, а не «похоже на правду».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2697480" cy="2011680"/>
          </a:xfrm>
          <a:prstGeom prst="roundRect">
            <a:avLst>
              <a:gd name="adj" fmla="val 4545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49808" y="2359152"/>
            <a:ext cx="22951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C7C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97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749808" y="3218688"/>
            <a:ext cx="22951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</a:rPr>
              <a:t>из 100 вопросов превратились в график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410712" y="2194560"/>
            <a:ext cx="2697480" cy="2011680"/>
          </a:xfrm>
          <a:prstGeom prst="roundRect">
            <a:avLst>
              <a:gd name="adj" fmla="val 4545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611880" y="2359152"/>
            <a:ext cx="22951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C7C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3611880" y="3218688"/>
            <a:ext cx="22951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</a:rPr>
              <a:t>графиков с цифрами, совпавшими с эталоном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72784" y="2194560"/>
            <a:ext cx="2697480" cy="2011680"/>
          </a:xfrm>
          <a:prstGeom prst="roundRect">
            <a:avLst>
              <a:gd name="adj" fmla="val 4545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73952" y="2359152"/>
            <a:ext cx="22951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D983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68</a:t>
            </a:r>
            <a:endParaRPr lang="en-US" sz="4000" dirty="0"/>
          </a:p>
        </p:txBody>
      </p:sp>
      <p:sp>
        <p:nvSpPr>
          <p:cNvPr id="12" name="Text 10"/>
          <p:cNvSpPr txBox="1"/>
          <p:nvPr/>
        </p:nvSpPr>
        <p:spPr>
          <a:xfrm>
            <a:off x="6473952" y="3218688"/>
            <a:ext cx="22951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</a:rPr>
              <a:t>правильных запросов к базе на русском (76 — на английском)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134856" y="2194560"/>
            <a:ext cx="2505456" cy="2011680"/>
          </a:xfrm>
          <a:prstGeom prst="roundRect">
            <a:avLst>
              <a:gd name="adj" fmla="val 4545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336024" y="2359152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B532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000" dirty="0"/>
          </a:p>
        </p:txBody>
      </p:sp>
      <p:sp>
        <p:nvSpPr>
          <p:cNvPr id="15" name="Text 13"/>
          <p:cNvSpPr txBox="1"/>
          <p:nvPr/>
        </p:nvSpPr>
        <p:spPr>
          <a:xfrm>
            <a:off x="9336024" y="3218688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</a:rPr>
              <a:t>графика, где данные потерялись уже после верного запроса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4480560"/>
            <a:ext cx="5486400" cy="1600200"/>
          </a:xfrm>
          <a:prstGeom prst="roundRect">
            <a:avLst>
              <a:gd name="adj" fmla="val 5714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49808" y="4663440"/>
            <a:ext cx="5084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2A37"/>
                </a:solidFill>
              </a:rPr>
              <a:t>Что это значит для пользователя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749808" y="5175504"/>
            <a:ext cx="508406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4B5563"/>
                </a:solidFill>
              </a:rPr>
              <a:t>Два графика из десяти нужно перепроверить. Для этого под каждым показан запрос к базе и число строк, а график не уходит дальше без подтверждения.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217920" y="4480560"/>
            <a:ext cx="5422392" cy="1600200"/>
          </a:xfrm>
          <a:prstGeom prst="roundRect">
            <a:avLst>
              <a:gd name="adj" fmla="val 5714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19088" y="4663440"/>
            <a:ext cx="5020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2A37"/>
                </a:solidFill>
              </a:rPr>
              <a:t>Где ошибки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6419088" y="5175504"/>
            <a:ext cx="502005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4B5563"/>
                </a:solidFill>
              </a:rPr>
              <a:t>Вопросы, где нужно связать несколько таблиц, и группировки. Простые выборки и фильтры решаются одинаково хорошо на русском и английском.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4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5720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Художник справляется с цветом и формой, но реализм портит данные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0876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4B5563"/>
                </a:solidFill>
              </a:rPr>
              <a:t>82 правки на тех же графиках, три уровня сложности. Оценка — автоматический контролёр по десяти признакам; правка засчитана, если выполнена и данные не искажены.</a:t>
            </a:r>
            <a:endParaRPr lang="en-US" sz="13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94560"/>
          <a:ext cx="5760720" cy="914400"/>
        </p:xfrm>
        <a:graphic>
          <a:graphicData uri="http://schemas.openxmlformats.org/drawingml/2006/table">
            <a:tbl>
              <a:tblPr/>
              <a:tblGrid>
                <a:gridCol w="3566160"/>
                <a:gridCol w="1005840"/>
                <a:gridCol w="11887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</a:rPr>
                        <a:t>Что просили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7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</a:rPr>
                        <a:t>Правок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7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</a:rPr>
                        <a:t>Засчитано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7E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7"/>
                          </a:solidFill>
                        </a:rPr>
                        <a:t>Сменить цвета, фон, рамку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37"/>
                          </a:solidFill>
                        </a:rPr>
                        <a:t>34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E7D4F"/>
                          </a:solidFill>
                        </a:rPr>
                        <a:t>88%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7"/>
                          </a:solidFill>
                        </a:rPr>
                        <a:t>Изменить форму элементов (скруглить, заменить на яйца)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37"/>
                          </a:solidFill>
                        </a:rPr>
                        <a:t>32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D98324"/>
                          </a:solidFill>
                        </a:rPr>
                        <a:t>72%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7"/>
                          </a:solidFill>
                        </a:rPr>
                        <a:t>Перерисовать как реальные предметы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37"/>
                          </a:solidFill>
                        </a:rPr>
                        <a:t>16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B5321F"/>
                          </a:solidFill>
                        </a:rPr>
                        <a:t>62%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</a:rPr>
                        <a:t>Все правки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37"/>
                          </a:solidFill>
                        </a:rPr>
                        <a:t>82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</a:rPr>
                        <a:t>77%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5" name="Image 0" descr="/Users/drkocharyan/education/matvey_chapter/current_system/sql_agent/PAUQ_ГРАФИКИ_ПРОГОН/D_0012_m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0" y="2194560"/>
            <a:ext cx="5056632" cy="278892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6583680" y="5029200"/>
            <a:ext cx="50566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B5563"/>
                </a:solidFill>
              </a:rPr>
              <a:t>«Столбцы в форме яиц»: все четыре значения, кроме первого, равны 1, а яйца разной высоты. Контролёр этого не заметил.</a:t>
            </a:r>
            <a:endParaRPr lang="en-US" sz="1150" dirty="0"/>
          </a:p>
        </p:txBody>
      </p:sp>
      <p:sp>
        <p:nvSpPr>
          <p:cNvPr id="7" name="Shape 3"/>
          <p:cNvSpPr/>
          <p:nvPr/>
        </p:nvSpPr>
        <p:spPr>
          <a:xfrm>
            <a:off x="548640" y="4846320"/>
            <a:ext cx="5760720" cy="1280160"/>
          </a:xfrm>
          <a:prstGeom prst="roundRect">
            <a:avLst>
              <a:gd name="adj" fmla="val 7143"/>
            </a:avLst>
          </a:prstGeom>
          <a:solidFill>
            <a:srgbClr val="2B3949"/>
          </a:solidFill>
          <a:ln w="12700">
            <a:solidFill>
              <a:srgbClr val="2B3949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777240" y="4937760"/>
            <a:ext cx="5303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3DF"/>
                </a:solidFill>
              </a:rPr>
              <a:t>Вывод для внедрения: цветовые и простые правки можно отдавать автомату, сложные — только с просмотром человеком. Контролёр склонен завышать оценку, это известное свойство таких моделей.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4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5720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Сейчас всё работает на одном компьютере — для одного пользователя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3566160" cy="1828800"/>
          </a:xfrm>
          <a:prstGeom prst="roundRect">
            <a:avLst>
              <a:gd name="adj" fmla="val 5000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49808" y="1719072"/>
            <a:ext cx="31638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C7C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1 мин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749808" y="2578608"/>
            <a:ext cx="31638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</a:rPr>
              <a:t>от вопроса до графика с запросом под ним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297680" y="1554480"/>
            <a:ext cx="3566160" cy="1828800"/>
          </a:xfrm>
          <a:prstGeom prst="roundRect">
            <a:avLst>
              <a:gd name="adj" fmla="val 5000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498848" y="1719072"/>
            <a:ext cx="31638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D983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3–4,5 мин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4498848" y="2578608"/>
            <a:ext cx="31638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</a:rPr>
              <a:t>художественная правка одной картинки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046720" y="1554480"/>
            <a:ext cx="3593592" cy="1828800"/>
          </a:xfrm>
          <a:prstGeom prst="roundRect">
            <a:avLst>
              <a:gd name="adj" fmla="val 5000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47888" y="1719072"/>
            <a:ext cx="31912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8247888" y="2578608"/>
            <a:ext cx="31912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</a:rPr>
              <a:t>пользователь за раз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657600"/>
          <a:ext cx="11091672" cy="914400"/>
        </p:xfrm>
        <a:graphic>
          <a:graphicData uri="http://schemas.openxmlformats.org/drawingml/2006/table">
            <a:tbl>
              <a:tblPr/>
              <a:tblGrid>
                <a:gridCol w="5029200"/>
                <a:gridCol w="1645920"/>
                <a:gridCol w="4416552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</a:rPr>
                        <a:t>Что занимает память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7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</a:rPr>
                        <a:t>Сколько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7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</a:rPr>
                        <a:t>Когда нужно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7E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7"/>
                          </a:solidFill>
                        </a:rPr>
                        <a:t>Специалист по данным, три роли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7"/>
                          </a:solidFill>
                        </a:rPr>
                        <a:t>27 ГБ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7"/>
                          </a:solidFill>
                        </a:rPr>
                        <a:t>всегда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7"/>
                          </a:solidFill>
                        </a:rPr>
                        <a:t>Диспетчер и чертёжник (языковая модель)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7"/>
                          </a:solidFill>
                        </a:rPr>
                        <a:t>9 ГБ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7"/>
                          </a:solidFill>
                        </a:rPr>
                        <a:t>всегда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7"/>
                          </a:solidFill>
                        </a:rPr>
                        <a:t>Художник (модель для картинок)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7"/>
                          </a:solidFill>
                        </a:rPr>
                        <a:t>33 ГБ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7"/>
                          </a:solidFill>
                        </a:rPr>
                        <a:t>только для художественных правок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7"/>
                          </a:solidFill>
                        </a:rPr>
                        <a:t>Контролёр качества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7"/>
                          </a:solidFill>
                        </a:rPr>
                        <a:t>6 ГБ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7"/>
                          </a:solidFill>
                        </a:rPr>
                        <a:t>только для оценки правок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 10"/>
          <p:cNvSpPr txBox="1"/>
          <p:nvPr/>
        </p:nvSpPr>
        <p:spPr>
          <a:xfrm>
            <a:off x="548640" y="571500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</a:rPr>
              <a:t>Всего 75 ГБ при 51,5 ГБ на рабочей машине, поэтому модули включаются по очереди. Для демонстрации без художника хватает 36 ГБ.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4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5720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Сервис читает базу, но не может её изменить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3593592" cy="2103120"/>
          </a:xfrm>
          <a:prstGeom prst="roundRect">
            <a:avLst>
              <a:gd name="adj" fmla="val 4348"/>
            </a:avLst>
          </a:prstGeom>
          <a:solidFill>
            <a:srgbClr val="2B3949"/>
          </a:solidFill>
          <a:ln w="12700">
            <a:solidFill>
              <a:srgbClr val="2B3949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49808" y="1737360"/>
            <a:ext cx="31912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Только чтение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749808" y="2203704"/>
            <a:ext cx="3191256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C9D3DF"/>
                </a:solidFill>
              </a:rPr>
              <a:t>К базе допускается единственный тип запроса — выборка. Изменение, удаление и создание таблиц блокируются до выполнения.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297680" y="1554480"/>
            <a:ext cx="3593592" cy="2103120"/>
          </a:xfrm>
          <a:prstGeom prst="roundRect">
            <a:avLst>
              <a:gd name="adj" fmla="val 4348"/>
            </a:avLst>
          </a:prstGeom>
          <a:solidFill>
            <a:srgbClr val="2B3949"/>
          </a:solidFill>
          <a:ln w="12700">
            <a:solidFill>
              <a:srgbClr val="2B394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498848" y="1737360"/>
            <a:ext cx="31912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Ограничение объёма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4498848" y="2203704"/>
            <a:ext cx="3191256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C9D3DF"/>
                </a:solidFill>
              </a:rPr>
              <a:t>Запрос возвращает не больше заданного числа строк и прерывается по времени. Тяжёлый вопрос не положит базу.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046720" y="1554480"/>
            <a:ext cx="3593592" cy="2103120"/>
          </a:xfrm>
          <a:prstGeom prst="roundRect">
            <a:avLst>
              <a:gd name="adj" fmla="val 4348"/>
            </a:avLst>
          </a:prstGeom>
          <a:solidFill>
            <a:srgbClr val="2B3949"/>
          </a:solidFill>
          <a:ln w="12700">
            <a:solidFill>
              <a:srgbClr val="2B394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47888" y="1737360"/>
            <a:ext cx="31912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Код в изоляции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8247888" y="2203704"/>
            <a:ext cx="3191256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C9D3DF"/>
                </a:solidFill>
              </a:rPr>
              <a:t>Программа, рисующая график, выполняется в отдельном процессе с таймаутом. Ошибка в ней не затрагивает сервис.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794760"/>
            <a:ext cx="3593592" cy="2103120"/>
          </a:xfrm>
          <a:prstGeom prst="roundRect">
            <a:avLst>
              <a:gd name="adj" fmla="val 4348"/>
            </a:avLst>
          </a:prstGeom>
          <a:solidFill>
            <a:srgbClr val="2B3949"/>
          </a:solidFill>
          <a:ln w="12700">
            <a:solidFill>
              <a:srgbClr val="2B394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49808" y="3977640"/>
            <a:ext cx="31912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Данные не уходят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749808" y="4443984"/>
            <a:ext cx="3191256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C9D3DF"/>
                </a:solidFill>
              </a:rPr>
              <a:t>Все модели работают на своём сервере. Ни вопросы, ни содержимое базы не передаются внешним сервисам.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297680" y="3794760"/>
            <a:ext cx="3593592" cy="2103120"/>
          </a:xfrm>
          <a:prstGeom prst="roundRect">
            <a:avLst>
              <a:gd name="adj" fmla="val 4348"/>
            </a:avLst>
          </a:prstGeom>
          <a:solidFill>
            <a:srgbClr val="2B3949"/>
          </a:solidFill>
          <a:ln w="12700">
            <a:solidFill>
              <a:srgbClr val="2B394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498848" y="3977640"/>
            <a:ext cx="31912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Фильтр на входе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4498848" y="4443984"/>
            <a:ext cx="3191256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C9D3DF"/>
                </a:solidFill>
              </a:rPr>
              <a:t>Запросы с недопустимым содержанием отсекаются до обработки.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046720" y="3794760"/>
            <a:ext cx="3593592" cy="2103120"/>
          </a:xfrm>
          <a:prstGeom prst="roundRect">
            <a:avLst>
              <a:gd name="adj" fmla="val 4348"/>
            </a:avLst>
          </a:prstGeom>
          <a:solidFill>
            <a:srgbClr val="2B3949"/>
          </a:solidFill>
          <a:ln w="12700">
            <a:solidFill>
              <a:srgbClr val="2B3949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247888" y="3977640"/>
            <a:ext cx="31912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След каждого ответа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8247888" y="4443984"/>
            <a:ext cx="3191256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C9D3DF"/>
                </a:solidFill>
              </a:rPr>
              <a:t>К каждому графику приложен запрос, число строк и история правок — ответ можно проверить и воспроизвести.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FB3C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5720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Три ступени роста: рабочее место, отдел, компания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3593592" cy="4526280"/>
          </a:xfrm>
          <a:prstGeom prst="roundRect">
            <a:avLst>
              <a:gd name="adj" fmla="val 2545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49808" y="1737360"/>
            <a:ext cx="31912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2A37"/>
                </a:solidFill>
              </a:rPr>
              <a:t>Одно рабочее место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749808" y="157276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A94A6"/>
                </a:solidFill>
              </a:rPr>
              <a:t>СЕЙЧАС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49808" y="2331720"/>
            <a:ext cx="3191256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9525">
            <a:solidFill>
              <a:srgbClr val="D6DBE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41248" y="237744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B5563"/>
                </a:solidFill>
              </a:rPr>
              <a:t>Mac или ПК с 48–64 ГБ памяти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749808" y="3154680"/>
            <a:ext cx="32004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4B5563"/>
                </a:solidFill>
              </a:rPr>
              <a:t>1 пользователь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4B5563"/>
                </a:solidFill>
              </a:rPr>
              <a:t>модули по очереди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4B5563"/>
                </a:solidFill>
              </a:rPr>
              <a:t>график за минуту, правка за 3–4,5 мин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4B5563"/>
                </a:solidFill>
              </a:rPr>
              <a:t>подходит для демонстрации и пилота на одном человеке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297680" y="1554480"/>
            <a:ext cx="3593592" cy="4526280"/>
          </a:xfrm>
          <a:prstGeom prst="roundRect">
            <a:avLst>
              <a:gd name="adj" fmla="val 2545"/>
            </a:avLst>
          </a:prstGeom>
          <a:solidFill>
            <a:srgbClr val="F1F3F6"/>
          </a:solidFill>
          <a:ln w="15875">
            <a:solidFill>
              <a:srgbClr val="D9832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498848" y="1737360"/>
            <a:ext cx="31912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2A37"/>
                </a:solidFill>
              </a:rPr>
              <a:t>Сервер для отдела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4498848" y="157276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98324"/>
                </a:solidFill>
              </a:rPr>
              <a:t>ШАГ 1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498848" y="2331720"/>
            <a:ext cx="3191256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9525">
            <a:solidFill>
              <a:srgbClr val="D6DBE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90288" y="237744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B5563"/>
                </a:solidFill>
              </a:rPr>
              <a:t>одна видеокарта 80 ГБ под языковые модели + одна 24–48 ГБ под художника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4498848" y="3154680"/>
            <a:ext cx="32004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4B5563"/>
                </a:solidFill>
              </a:rPr>
              <a:t>все модули работают одновременно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4B5563"/>
                </a:solidFill>
              </a:rPr>
              <a:t>запросы нескольких людей обрабатываются пачкой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4B5563"/>
                </a:solidFill>
              </a:rPr>
              <a:t>график по-прежнему ≈ 1 мин, правка — секунды, а не минуты [замер на сервере]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4B5563"/>
                </a:solidFill>
              </a:rPr>
              <a:t>число одновременных пользователей — [замер]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046720" y="1554480"/>
            <a:ext cx="3593592" cy="4526280"/>
          </a:xfrm>
          <a:prstGeom prst="roundRect">
            <a:avLst>
              <a:gd name="adj" fmla="val 2545"/>
            </a:avLst>
          </a:prstGeom>
          <a:solidFill>
            <a:srgbClr val="F1F3F6"/>
          </a:solidFill>
          <a:ln w="15875">
            <a:solidFill>
              <a:srgbClr val="1C7C7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47888" y="1737360"/>
            <a:ext cx="31912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2A37"/>
                </a:solidFill>
              </a:rPr>
              <a:t>Кластер для компании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8247888" y="157276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C7C7D"/>
                </a:solidFill>
              </a:rPr>
              <a:t>ШАГ 2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247888" y="2331720"/>
            <a:ext cx="3191256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9525">
            <a:solidFill>
              <a:srgbClr val="D6DBE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339328" y="237744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B5563"/>
                </a:solidFill>
              </a:rPr>
              <a:t>несколько серверов за балансировщиком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8247888" y="3154680"/>
            <a:ext cx="32004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4B5563"/>
                </a:solidFill>
              </a:rPr>
              <a:t>диспетчер и чертёжник — в нескольких копиях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4B5563"/>
                </a:solidFill>
              </a:rPr>
              <a:t>художник — через очередь, видеокарты добавляются по её длине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4B5563"/>
                </a:solidFill>
              </a:rPr>
              <a:t>состояние диалогов — в общем хранилище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4B5563"/>
                </a:solidFill>
              </a:rPr>
              <a:t>оценка качества — в фоне, не задерживая ответ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612648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A94A6"/>
                </a:solidFill>
              </a:rPr>
              <a:t>Каждый модуль — отдельный контейнер, художник уже работал на сервере с видеокартой. Цифры в скобках появятся после первого запуска на сервере.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4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5720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Что сервис делает плохо и что с этим делать</a:t>
            </a:r>
            <a:endParaRPr lang="en-US" sz="3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1672" cy="914400"/>
        </p:xfrm>
        <a:graphic>
          <a:graphicData uri="http://schemas.openxmlformats.org/drawingml/2006/table">
            <a:tbl>
              <a:tblPr/>
              <a:tblGrid>
                <a:gridCol w="4023360"/>
                <a:gridCol w="3108960"/>
                <a:gridCol w="3959352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A37"/>
                          </a:solidFill>
                        </a:rPr>
                        <a:t>Слабое место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7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A37"/>
                          </a:solidFill>
                        </a:rPr>
                        <a:t>Насколько серьёзно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7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A37"/>
                          </a:solidFill>
                        </a:rPr>
                        <a:t>Что делаем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7E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</a:rPr>
                        <a:t>Сложные вопросы с несколькими таблицами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</a:rPr>
                        <a:t>точность падает до 40–50%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</a:rPr>
                        <a:t>дообучение на таких примерах; подсказка пользователю разбить вопрос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</a:rPr>
                        <a:t>Русский хуже английского на 8 пунктов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</a:rPr>
                        <a:t>слова вроде «старшеклассник» превращаются в лишние условия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</a:rPr>
                        <a:t>русские примеры в обучающем наборе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</a:rPr>
                        <a:t>Художник искажает пропорции при сложных правках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</a:rPr>
                        <a:t>каждая третья реалистичная правка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</a:rPr>
                        <a:t>сложные правки — только с просмотром человеком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</a:rPr>
                        <a:t>Автоматический контролёр завышает оценку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</a:rPr>
                        <a:t>пропускает часть искажений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</a:rPr>
                        <a:t>выборочная ручная проверка, порог строже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</a:rPr>
                        <a:t>Новый вопрос к базе во время ожидания подтверждения считается правкой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</a:rPr>
                        <a:t>путает пользователя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</a:rPr>
                        <a:t>учитывать состояние диалога при разборе сообщения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</a:rPr>
                        <a:t>Поддерживается одна СУБД (SQLite)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</a:rPr>
                        <a:t>корпоративные базы обычно на других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</a:rPr>
                        <a:t>подключение PostgreSQL и аналогов — следующая версия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4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5720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Что нужно, чтобы запустить пилот в отделе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5440680" cy="2057400"/>
          </a:xfrm>
          <a:prstGeom prst="roundRect">
            <a:avLst>
              <a:gd name="adj" fmla="val 4444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737360"/>
            <a:ext cx="457200" cy="457200"/>
          </a:xfrm>
          <a:prstGeom prst="ellipse">
            <a:avLst/>
          </a:prstGeom>
          <a:solidFill>
            <a:srgbClr val="D98324"/>
          </a:solidFill>
          <a:ln w="12700">
            <a:solidFill>
              <a:srgbClr val="D9832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73736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37"/>
                </a:solidFill>
              </a:rPr>
              <a:t>Сервер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2249424"/>
            <a:ext cx="5038344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4B5563"/>
                </a:solidFill>
              </a:rPr>
              <a:t>Одна видеокарта на 80 ГБ и одна на 24–48 ГБ, либо облачный аналог на время пилота. На нём снимаем цифры скорости и числа пользователей.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17920" y="1554480"/>
            <a:ext cx="5440680" cy="2057400"/>
          </a:xfrm>
          <a:prstGeom prst="roundRect">
            <a:avLst>
              <a:gd name="adj" fmla="val 4444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1737360"/>
            <a:ext cx="457200" cy="457200"/>
          </a:xfrm>
          <a:prstGeom prst="ellipse">
            <a:avLst/>
          </a:prstGeom>
          <a:solidFill>
            <a:srgbClr val="D98324"/>
          </a:solidFill>
          <a:ln w="12700">
            <a:solidFill>
              <a:srgbClr val="D9832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995160" y="173736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37"/>
                </a:solidFill>
              </a:rPr>
              <a:t>База и вопросы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419088" y="2249424"/>
            <a:ext cx="5038344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4B5563"/>
                </a:solidFill>
              </a:rPr>
              <a:t>Копия реальной базы только для чтения и 30–50 типовых вопросов отдела с известными правильными ответами — это станет мерилом точности на ваших данных.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749040"/>
            <a:ext cx="5440680" cy="2057400"/>
          </a:xfrm>
          <a:prstGeom prst="roundRect">
            <a:avLst>
              <a:gd name="adj" fmla="val 4444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1520" y="3931920"/>
            <a:ext cx="457200" cy="457200"/>
          </a:xfrm>
          <a:prstGeom prst="ellipse">
            <a:avLst/>
          </a:prstGeom>
          <a:solidFill>
            <a:srgbClr val="D98324"/>
          </a:solidFill>
          <a:ln w="12700">
            <a:solidFill>
              <a:srgbClr val="D9832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31520" y="3931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325880" y="393192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37"/>
                </a:solidFill>
              </a:rPr>
              <a:t>Люди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749808" y="4443984"/>
            <a:ext cx="5038344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4B5563"/>
                </a:solidFill>
              </a:rPr>
              <a:t>Два-три сотрудника, которые две недели задают вопросы сервису вместо аналитика, и один аналитик, который проверяет ответы.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217920" y="3749040"/>
            <a:ext cx="5440680" cy="2057400"/>
          </a:xfrm>
          <a:prstGeom prst="roundRect">
            <a:avLst>
              <a:gd name="adj" fmla="val 4444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0" y="3931920"/>
            <a:ext cx="457200" cy="457200"/>
          </a:xfrm>
          <a:prstGeom prst="ellipse">
            <a:avLst/>
          </a:prstGeom>
          <a:solidFill>
            <a:srgbClr val="D98324"/>
          </a:solidFill>
          <a:ln w="12700">
            <a:solidFill>
              <a:srgbClr val="D9832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00800" y="3931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6995160" y="393192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37"/>
                </a:solidFill>
              </a:rPr>
              <a:t>Критерий успеха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6419088" y="4443984"/>
            <a:ext cx="5038344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4B5563"/>
                </a:solidFill>
              </a:rPr>
              <a:t>Доля графиков, принятых без исправлений, и время от вопроса до ответа по сравнению с текущим процессом. Пороги договариваемся до старта.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603504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A94A6"/>
                </a:solidFill>
              </a:rPr>
              <a:t>Установка — по инструкции из репозитория, скриптом; модели для специалиста по данным лежат там же.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4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5720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Что получает пользователь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5440680" cy="1600200"/>
          </a:xfrm>
          <a:prstGeom prst="roundRect">
            <a:avLst>
              <a:gd name="adj" fmla="val 5714"/>
            </a:avLst>
          </a:prstGeom>
          <a:solidFill>
            <a:srgbClr val="2B3949"/>
          </a:solidFill>
          <a:ln w="12700">
            <a:solidFill>
              <a:srgbClr val="2B3949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49808" y="1737360"/>
            <a:ext cx="5038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Ответ за минуту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749808" y="2249424"/>
            <a:ext cx="503834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C9D3DF"/>
                </a:solidFill>
              </a:rPr>
              <a:t>вместо очереди к аналитику — для типовых вопросов о продажах, остатках, динамике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217920" y="1554480"/>
            <a:ext cx="5440680" cy="1600200"/>
          </a:xfrm>
          <a:prstGeom prst="roundRect">
            <a:avLst>
              <a:gd name="adj" fmla="val 5714"/>
            </a:avLst>
          </a:prstGeom>
          <a:solidFill>
            <a:srgbClr val="2B3949"/>
          </a:solidFill>
          <a:ln w="12700">
            <a:solidFill>
              <a:srgbClr val="2B394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19088" y="1737360"/>
            <a:ext cx="5038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Проверяемость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6419088" y="2249424"/>
            <a:ext cx="503834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C9D3DF"/>
                </a:solidFill>
              </a:rPr>
              <a:t>под каждым графиком запрос к базе; ничего не принимается без подтверждения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3291840"/>
            <a:ext cx="5440680" cy="1600200"/>
          </a:xfrm>
          <a:prstGeom prst="roundRect">
            <a:avLst>
              <a:gd name="adj" fmla="val 5714"/>
            </a:avLst>
          </a:prstGeom>
          <a:solidFill>
            <a:srgbClr val="2B3949"/>
          </a:solidFill>
          <a:ln w="12700">
            <a:solidFill>
              <a:srgbClr val="2B394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49808" y="3474720"/>
            <a:ext cx="5038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Оформление словами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749808" y="3986784"/>
            <a:ext cx="503834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C9D3DF"/>
                </a:solidFill>
              </a:rPr>
              <a:t>от смены цвета до иллюстрации в фирменном стиле — в том же диалоге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217920" y="3291840"/>
            <a:ext cx="5440680" cy="1600200"/>
          </a:xfrm>
          <a:prstGeom prst="roundRect">
            <a:avLst>
              <a:gd name="adj" fmla="val 5714"/>
            </a:avLst>
          </a:prstGeom>
          <a:solidFill>
            <a:srgbClr val="2B3949"/>
          </a:solidFill>
          <a:ln w="12700">
            <a:solidFill>
              <a:srgbClr val="2B394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19088" y="3474720"/>
            <a:ext cx="5038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Свои данные у себя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6419088" y="3986784"/>
            <a:ext cx="503834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C9D3DF"/>
                </a:solidFill>
              </a:rPr>
              <a:t>сервис работает в контуре компании, базу только читает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530352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FB3C8"/>
                </a:solidFill>
              </a:rPr>
              <a:t>Код, инструкция по запуску, отчёты по замерам и эта презентация — github.com/kocharyandr/nl2g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FB3C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L2G pitch">
  <a:themeElements>
    <a:clrScheme name="NL2G pitch">
      <a:dk1>
        <a:srgbClr val="1F2A37"/>
      </a:dk1>
      <a:lt1>
        <a:srgbClr val="FFFFFF"/>
      </a:lt1>
      <a:dk2>
        <a:srgbClr val="4B5563"/>
      </a:dk2>
      <a:lt2>
        <a:srgbClr val="F1F3F6"/>
      </a:lt2>
      <a:accent1>
        <a:srgbClr val="D98324"/>
      </a:accent1>
      <a:accent2>
        <a:srgbClr val="1C7C7D"/>
      </a:accent2>
      <a:accent3>
        <a:srgbClr val="B5321F"/>
      </a:accent3>
      <a:accent4>
        <a:srgbClr val="2E7D4F"/>
      </a:accent4>
      <a:accent5>
        <a:srgbClr val="8A94A6"/>
      </a:accent5>
      <a:accent6>
        <a:srgbClr val="2B3949"/>
      </a:accent6>
      <a:hlink>
        <a:srgbClr val="1C7C7D"/>
      </a:hlink>
      <a:folHlink>
        <a:srgbClr val="4B5563"/>
      </a:folHlink>
    </a:clrScheme>
    <a:fontScheme name="NL2G pitch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NL2G — графики по вопросу к базе данных</dc:title>
  <dc:subject>PptxGenJS Presentation</dc:subject>
  <dc:creator>kocharyandr</dc:creator>
  <cp:lastModifiedBy>kocharyandr</cp:lastModifiedBy>
  <cp:revision>1</cp:revision>
  <dcterms:created xsi:type="dcterms:W3CDTF">2026-10-12T19:18:21Z</dcterms:created>
  <dcterms:modified xsi:type="dcterms:W3CDTF">2026-10-12T19:18:21Z</dcterms:modified>
</cp:coreProperties>
</file>