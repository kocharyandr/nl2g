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истема" id="{38c3f464-3f77-1b72-5b8c-8332fc89d3f0}">
          <p14:sldIdLst>
            <p14:sldId id="256"/>
            <p14:sldId id="257"/>
            <p14:sldId id="258"/>
            <p14:sldId id="259"/>
          </p14:sldIdLst>
        </p14:section>
        <p14:section name="Примеры" id="{5cbc7508-10eb-e937-0604-80751b71eb56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Оценка" id="{3f94c6b4-0fe2-23e9-47c7-15ecf31edd3d}">
          <p14:sldIdLst>
            <p14:sldId id="269"/>
            <p14:sldId id="270"/>
            <p14:sldId id="271"/>
          </p14:sldIdLst>
        </p14:section>
        <p14:section name="Ресурсы" id="{1b6f2147-dd3b-8bf8-f007-af230190d6f4}">
          <p14:sldIdLst>
            <p14:sldId id="272"/>
            <p14:sldId id="273"/>
          </p14:sldIdLst>
        </p14:section>
        <p14:section name="Ограничения" id="{493bb8c4-b21d-1466-4750-721344bf1fe5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Состав: архитектура и путь запроса, два примера, три блока оценки (NL2SQL, графики, правки), ресурсы и масштабирование, ограничения.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языковые модели — в одном Ollama по OpenAI-совместимому протоколу. LLM-судья — часть оркестратора (узел validation), модель та же, что в оценке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Узел sql_source — новый источник данных рядом с текстом и CSV. Правка до подтверждения — перегенерация кода, после — диффузия.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Размеры — по ollama list и логам diffusion_service.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Снимок экрана настоящий, из прогона в интерфейсе. SQL восстановлен по логу sql_agent.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картинка — правка цвета, правая — формы. Правая иллюстрирует и слабость диффузии, и смещение судьи.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Пример из прогона на 100 вопросах: соединение двух таблиц, группировка, затем самая сложная правка. Видно и работу NL2SQL, и предел диффузии.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ошибка модели, справа — ошибка интеграции. Вторая чинится приведением типов и входит в дальнейшую работу.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Снимки из живого чата. Это правки без привязки к бренду — показывают общий диапазон стилей диффузии.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Правка до подтверждения выполняется кодом за 30–40 с, изображение не трогается. Тот же промпт применён к 15 вопросам: данные после правки совпали с эталоном везде, где исходный график был верным.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базы, два уровня правки: инверсия цветов (уровень 1) и купола-яйца (уровень 2). Значения столбцов после правки читаются так же, как до.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Линейные графики: правка маркеров (уровень 2) и сцена с реализмом (уровень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Верхняя пара — реализм без потерь. Нижняя: планировщик построил столбцы, а промпт просил круговую — диффузия нарисовала тарелку с «пирогом», не связанным с данными. Граница применимости диффузионных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Отчёт: PAUQ_РАЗБОР_100.html — 100 пар рядом, SQL и результаты обоих языков; pauq_stats_100.txt — статистика.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клетка — SQL отличается от эталона лишней колонкой id, числа на графике те же. Отчёт: ГРАФИКИ_PAUQ_ОТЧЁТ.html, карточка на каждый вопрос.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Правки идут через узел image_diffusion с префиксом «Нарисуй нейросетью в новом стиле», иначе роутер уводит цветовые правки в код. Отчёт: ГРАФИКИ_PAUQ_ОТЧЁТ.html, фильтр по уровню и 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Фазы — следствие одной машины: на сервере с двумя GPU все три работают одновременно.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vLLM multi-LoRA держит одну копию базовой модели и три адаптера по 21 МБ вместо трёх GGUF по 9 ГБ.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одна из проблем не в моделях — все на границах сервисов, в типах данных и маршрутизации.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Самое дешёвое улучшение — типы на стыке. Самое дорогое — ручная валидация судьи на русских правках.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nl2g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B3C8"/>
                </a:solidFill>
              </a:rPr>
              <a:t>nl2g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 на русском к базе данных → SQL → график → правка изображения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DF"/>
                </a:solidFill>
              </a:rPr>
              <a:t>Пайплайн, примеры работы, оценка качества на PAUQ и оценка ресурсов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</a:rPr>
              <a:t>Октябрь 2026 · код и отчёты: github.com/kocharyandr/nl2g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Архитектура: семь сервисов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840480" y="1463040"/>
            <a:ext cx="4507992" cy="777240"/>
          </a:xfrm>
          <a:prstGeom prst="roundRect">
            <a:avLst>
              <a:gd name="adj" fmla="val 1176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041648" y="1627632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Чат (Gradio)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041648" y="1956816"/>
            <a:ext cx="4105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текст, CSV, изображение; переключатель «Данные из базы»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089904" y="2267712"/>
            <a:ext cx="0" cy="320040"/>
          </a:xfrm>
          <a:prstGeom prst="line">
            <a:avLst/>
          </a:prstGeom>
          <a:noFill/>
          <a:ln w="28575">
            <a:solidFill>
              <a:srgbClr val="1C7C7D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011680" y="2651760"/>
            <a:ext cx="8165592" cy="868680"/>
          </a:xfrm>
          <a:prstGeom prst="roundRect">
            <a:avLst>
              <a:gd name="adj" fmla="val 10526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12848" y="2816352"/>
            <a:ext cx="7763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Оркестратор (chart_agent): граф состояний на LangGraph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3145536"/>
            <a:ext cx="7763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D3DF"/>
                </a:solidFill>
              </a:rPr>
              <a:t>маршрутизация намерения, человек подтверждает график, состояние сессий в Redis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9904" y="3547872"/>
            <a:ext cx="0" cy="320040"/>
          </a:xfrm>
          <a:prstGeom prst="line">
            <a:avLst/>
          </a:prstGeom>
          <a:noFill/>
          <a:ln w="28575">
            <a:solidFill>
              <a:srgbClr val="1C7C7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7C7D"/>
                </a:solidFill>
              </a:rPr>
              <a:t>NL2SQL-агент (sql_agent)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schema-агент → SQL-агент → критик с выполнением; только SELECT, read-only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55848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57016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Исполнитель кода (code_executor)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557016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pandas и matplotlib в отдельном процессе с таймаутом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64224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Диффузия (diffusion_service)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FLUX.2 Klein 9B + LoRA, правка изображения по промпту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70264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Guardrails (GLiNER2)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фильтр безопасности, классификация намерения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4068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Ollama: nl2sql-schema · nl2sql-sql · nl2sql-critic · qwen2.5-coder:14b (оркестратор) · qwen2.5vl:7b (LLM-судья)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05256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— состояние сессий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одного запроса: шесть узлов графа и где в нём человек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2763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2763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interaction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0312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определяет намерение: текст, CSV, база, изображение; при неясности переспрашивает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62763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2763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sql_source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10312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вопрос → NL2SQL-агент → таблица; если в результате нет числовой меры — повторный запрос с подсказкой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09067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0906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table_node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56616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LLM пишет pandas-план: оси, серии, агрегация; код выполняется, результат валидируется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09067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30906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plot_node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356616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код matplotlib → code_executor; до 3 попыток рендера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3891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553712"/>
            <a:ext cx="420624" cy="420624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5537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approval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502920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человек: подтвердить, отменить или правка текстом (повторная генерация кода)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3891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455371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45537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image_diffusion + validation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19088" y="502920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после подтверждения: промпт → FLUX; LLM-судья оценивает до 3 итераций, выбирается лучшая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9788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Медианы на 100 вопросах PAUQ: SQL 14 с · график готов через 52–66 с · правка диффузией 3–4,5 мин · оценка судьёй ≈ 1 мин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Модели и их роли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657600"/>
                <a:gridCol w="423367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Сервис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Задача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Модель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Память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schema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выбор таблиц по Schema Profile и RAG-сужению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Qwen2.5-Coder-14B + LoRA (ранг 8, слои 32–47), GGUF q4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sql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генерация SELECT по суженной схеме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 же, свой адаптер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critic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выполнение запроса, разбор ошибки и результата, до 3 попыток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 же, свой адаптер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chart_agent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намерение, pandas-план, код графика, промпт для диффузии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qwen2.5-coder:14b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diffusion_service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правка изображения графика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FLUX.2 Klein 9B + LoRA rank 16 (2000 шагов), bf16, MPS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≈ 33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LLM-судья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критерии A1–A5 (правка выполнена) и P1–P5 (данные сохранены)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qwen2.5vl:7b, temperature 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guardrails_api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фильтр безопасности, классификация намерения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GLiNER2 (fastino/gliner2-multi-v1)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&lt; 1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Адаптеры NL2SQL обучены на Spider; три роли — три копии базовой модели в Ollama (по 9 ГБ), так как Ollama не делит базу между адаптерами.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«построй график выручки по городам» — база РозничнаяСеть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377440" y="146304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377440" y="1463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построй график выручки по городам</a:t>
            </a:r>
            <a:endParaRPr lang="en-US" sz="1250" dirty="0"/>
          </a:p>
        </p:txBody>
      </p:sp>
      <p:pic>
        <p:nvPicPr>
          <p:cNvPr id="5" name="Image 0" descr="cha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7400"/>
            <a:ext cx="4206240" cy="3831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0" y="2057400"/>
            <a:ext cx="6702552" cy="3831336"/>
          </a:xfrm>
          <a:prstGeom prst="roundRect">
            <a:avLst>
              <a:gd name="adj" fmla="val 238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Что произошло за 68 секунд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265176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schema-агент выбрал таблицы магазины и продажи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SQL-агент: SELECT м.город, SUM(п.выручка) FROM продажи п JOIN магазины м ON … GROUP BY м.город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критик выполнил запрос: 6 строк, с первой попытки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pandas-план: x = город, y = выручка; тип — столбцы; рендер с первой попытки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4206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Ответ в чате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452628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график, пояснение на русском («Запрос возвращает суммарную выручку для каждого города»), число строк и свёрнутый блок с SQL. Кнопки «Подтвердить» / «Отмена».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4A6"/>
                </a:solidFill>
              </a:rPr>
              <a:t>Правка до подтверждения: «а теперь линией» — 34–40 с, перегенерация кода графика.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правка изображения после подтверждения, два уровня сложности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Уровень 1 — цвет: «замени цвета графика на ярко-красный, фон белый, сетка и оси чёрные»</a:t>
            </a:r>
            <a:endParaRPr lang="en-US" sz="1150" dirty="0"/>
          </a:p>
        </p:txBody>
      </p:sp>
      <p:pic>
        <p:nvPicPr>
          <p:cNvPr id="4" name="Image 0" descr="/Users/drkocharyan/education/matvey_chapter/current_system/sql_agent/МТС_ПРАВКИ/01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394960" cy="32186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Уровень 2 — форма: «сделай столбцы в форме белых яиц на красном фоне, высота яйца равна высоте столбца»</a:t>
            </a:r>
            <a:endParaRPr lang="en-US" sz="1150" dirty="0"/>
          </a:p>
        </p:txBody>
      </p:sp>
      <p:pic>
        <p:nvPicPr>
          <p:cNvPr id="6" name="Image 1" descr="/Users/drkocharyan/education/matvey_chapter/current_system/sql_agent/PAUQ_ГРАФИКИ_ПРОГОН/D_0012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20240"/>
            <a:ext cx="5394960" cy="2971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30352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303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Подписи, значения и пропорции сохранены. Судья: A=1, P=1.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63640" y="502920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46520" y="5029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Значения 4, 1, 1, 1 — а яйца разной высоты: пропорции искажены. Судья поставил P=1, то есть искажения не заметил.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К каждому промпту добавляется «Сохрани график 1 в 1. Оси, подписи и масштаб должны быть идентичными исходному графику»; одна итерация FLUX, seed 42.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вопрос PAUQ с соединением таблиц и правка третьего уровня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Как зовут учителей и сколько курсов они преподают?  (course_teach)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669280" cy="160020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0848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</a:rPr>
              <a:t>SQL сервиса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T2.Name, COUNT(*) FROM course_arrange AS T1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teacher AS T2 ON T1.teacher_id = T2.teacher_id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T1.teacher_id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Эталон группирует по T2.Name — результат тот же: 6 строк, SQL-EX ✓, Chart-EX ✓. График за 55 с.</a:t>
            </a:r>
            <a:endParaRPr lang="en-US" sz="1150" dirty="0"/>
          </a:p>
        </p:txBody>
      </p:sp>
      <p:pic>
        <p:nvPicPr>
          <p:cNvPr id="9" name="Image 0" descr="/Users/drkocharyan/education/matvey_chapter/current_system/sql_agent/PAUQ_ГРАФИКИ_ПРОГОН/D_0407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49040"/>
            <a:ext cx="4023360" cy="22128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89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график до правки</a:t>
            </a:r>
            <a:endParaRPr lang="en-US" sz="1050" dirty="0"/>
          </a:p>
        </p:txBody>
      </p:sp>
      <p:pic>
        <p:nvPicPr>
          <p:cNvPr id="11" name="Image 1" descr="/Users/drkocharyan/education/matvey_chapter/current_system/sql_agent/PAUQ_ГРАФИКИ_ПРОГОН/D_0407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17320"/>
            <a:ext cx="5394960" cy="2971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63640" y="44348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Правка (уровень 3, 267 с): «перерисуй столбцы как настоящие белые куриные яйца, стоящие вертикально на красной скатерти; чем выше значение, тем крупнее яйцо»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63640" y="512064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51206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Судья: P=1 (данные сохранены), A=0 — счёл, что форма столбцов изменена не полностью. Значение 2 у Anne Walker на картинке выше остальных, но не вдвое.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две типичные ошибки — лексика в NL2SQL и типы данных на стыке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1F3F6"/>
          </a:solidFill>
          <a:ln w="15875">
            <a:solidFill>
              <a:srgbClr val="B5321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581912"/>
            <a:ext cx="5084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NL2SQL: лишнее условие из слова «старшеклассник»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9659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Как зовут старшеклассника, у которого больше всего лайков?  (network_1)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4688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321F"/>
                </a:solidFill>
              </a:rPr>
              <a:t>по-русски — неверно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2491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T1.name FROM Highschooler AS T1 JOIN Likes AS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T1.id = T2.liked_id WHERE T1.grade = 12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T2.liked_id ORDER BY count(*) DESC LIMIT 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5204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по-английски — верно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77647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t1.name FROM highschooler AS t1 JOIN likes AS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t1.id = t2.student_id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t2.student_id ORDER BY count(*) DESC LIMIT 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6177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Модель перевела «старшеклассник» в фильтр grade = 12 и перепутала сторону связи (liked_id вместо student_id). Так устроены 3 из 9 ошибок, возникших только на русском.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417320"/>
            <a:ext cx="5422392" cy="4663440"/>
          </a:xfrm>
          <a:prstGeom prst="roundRect">
            <a:avLst>
              <a:gd name="adj" fmla="val 1961"/>
            </a:avLst>
          </a:prstGeom>
          <a:solidFill>
            <a:srgbClr val="F1F3F6"/>
          </a:solidFill>
          <a:ln w="15875">
            <a:solidFill>
              <a:srgbClr val="B532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9088" y="1581912"/>
            <a:ext cx="5020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Стык SQL → pandas: дата, хранящаяся числом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965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Найди общее количество туров для каждой рейтинговой даты.  (wta_1)</a:t>
            </a:r>
            <a:endParaRPr lang="en-US" sz="1150" dirty="0"/>
          </a:p>
        </p:txBody>
      </p:sp>
      <p:pic>
        <p:nvPicPr>
          <p:cNvPr id="14" name="Image 0" descr="/Users/drkocharyan/education/matvey_chapter/current_system/sql_agent/PAUQ_ГРАФИКИ_ПРОГОН/D_0480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088" y="2468880"/>
            <a:ext cx="3566160" cy="19659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419088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SQL верный (1 504 строки, SQL-EX ✓), но ranking_date хранится как число 19870119; pandas принял его за наносекунды от 1970, и подписи оси превратились в «1970-01-01 00:00:00.019870119». Chart-EX ✗. Два из трёх случаев потери на стыке — этот.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стилевые правки из чата — космос и акварель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«поменяй стиль на космический» — база РозничнаяСеть, выручка по городам, линия</a:t>
            </a:r>
            <a:endParaRPr lang="en-US" sz="1150" dirty="0"/>
          </a:p>
        </p:txBody>
      </p:sp>
      <p:pic>
        <p:nvPicPr>
          <p:cNvPr id="4" name="Image 0" descr="cosmos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486400" cy="30266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«нарисуй как будто это акварель на мятой бумаге» — количество по городам, столбцы</a:t>
            </a:r>
            <a:endParaRPr lang="en-US" sz="1150" dirty="0"/>
          </a:p>
        </p:txBody>
      </p:sp>
      <p:pic>
        <p:nvPicPr>
          <p:cNvPr id="6" name="Image 1" descr="aqua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20240"/>
            <a:ext cx="5394960" cy="2971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1206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120640"/>
            <a:ext cx="10725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Обе правки прошли через узлы image_diffusion и validation с автовалидацией (3 итерации FLUX, выбрана лучшая по оценке судьи): 599 с и 603 с на одной машине. Подписи осей, значения и форма линии сохранены; промпт для FLUX LLM составила сама: «Convert the chart to an aqua-colored watercolor style on a mint green paper texture, preserving the original data proportions…».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Примеры использования: правка кодом до подтверждения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Показать все страны и количество певцов из каждой страны  (concert_singer)</a:t>
            </a:r>
            <a:endParaRPr lang="en-US" sz="1150" dirty="0"/>
          </a:p>
        </p:txBody>
      </p:sp>
      <p:pic>
        <p:nvPicPr>
          <p:cNvPr id="5" name="Image 0" descr="/Users/drkocharyan/education/matvey_chapter/current_system/sql_agent/PAUQ_ГРАФИКИ_ПРОГОН/_черновик_одинаковый_стиль/D_0011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7088"/>
            <a:ext cx="3520440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60520" y="283464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7" name="Image 1" descr="/Users/drkocharyan/education/matvey_chapter/current_system/sql_agent/PAUQ_ГРАФИКИ_ПРОГОН/_черновик_одинаковый_стиль/D_0011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47088"/>
            <a:ext cx="352044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092440" y="137160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57032" y="14630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257032" y="170078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«Оформи график в стиле МТС: основные элементы ярко-красные (#E30611), фон белый, текст и оси чёрные, сетка светло-серая, верхнюю и правую рамку убери. Данные не меняй»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257032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Правка кодом: перегенерация matplotlib, те же 4 строки. График 52 с, правка 34 с.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257032" y="3429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Данные после правки совпали с эталоном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393192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9319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Покажите название стадиона и количество концертов на каждом стадионе  (concert_singer)</a:t>
            </a:r>
            <a:endParaRPr lang="en-US" sz="1150" dirty="0"/>
          </a:p>
        </p:txBody>
      </p:sp>
      <p:pic>
        <p:nvPicPr>
          <p:cNvPr id="15" name="Image 2" descr="/Users/drkocharyan/education/matvey_chapter/current_system/sql_agent/PAUQ_ГРАФИКИ_ПРОГОН/_черновик_одинаковый_стиль/D_0023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07408"/>
            <a:ext cx="3520440" cy="19659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160520" y="539496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17" name="Image 3" descr="/Users/drkocharyan/education/matvey_chapter/current_system/sql_agent/PAUQ_ГРАФИКИ_ПРОГОН/_черновик_одинаковый_стиль/D_0023_m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407408"/>
            <a:ext cx="3520440" cy="19659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092440" y="393192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57032" y="40233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257032" y="426110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«Оформи график в стиле МТС: основные элементы ярко-красные (#E30611), фон белый, текст и оси чёрные, сетка светло-серая, верхнюю и правую рамку убери. Данные не меняй»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257032" y="5532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Правка кодом, те же 6 строк. График 61 с, правка 36 с.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257032" y="5989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Данные после правки совпали с эталоном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Примеры использования: правки изображения, уровень 1 и 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Средний вес для каждого типа питомца.  (pets_1)</a:t>
            </a:r>
            <a:endParaRPr lang="en-US" sz="1150" dirty="0"/>
          </a:p>
        </p:txBody>
      </p:sp>
      <p:pic>
        <p:nvPicPr>
          <p:cNvPr id="5" name="Image 0" descr="/Users/drkocharyan/education/matvey_chapter/current_system/sql_agent/PAUQ_ГРАФИКИ_ПРОГОН/D_0074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7088"/>
            <a:ext cx="3520440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60520" y="283464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7" name="Image 1" descr="/Users/drkocharyan/education/matvey_chapter/current_system/sql_agent/PAUQ_ГРАФИКИ_ПРОГОН/D_0074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47088"/>
            <a:ext cx="352044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092440" y="137160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57032" y="14630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257032" y="170078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«Сделай фон сплошным красным, столбцы и весь текст — белыми»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257032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4 строки · график 52 с · правка 176 с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257032" y="3429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Судья: A=1, P=1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393192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9319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Покажите различное гражданство певцов и количество певцов каждого гражданства.  (singer)</a:t>
            </a:r>
            <a:endParaRPr lang="en-US" sz="1150" dirty="0"/>
          </a:p>
        </p:txBody>
      </p:sp>
      <p:pic>
        <p:nvPicPr>
          <p:cNvPr id="15" name="Image 2" descr="/Users/drkocharyan/education/matvey_chapter/current_system/sql_agent/PAUQ_ГРАФИКИ_ПРОГОН/D_1013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07408"/>
            <a:ext cx="3520440" cy="19659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160520" y="539496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17" name="Image 3" descr="/Users/drkocharyan/education/matvey_chapter/current_system/sql_agent/PAUQ_ГРАФИКИ_ПРОГОН/D_1013_m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407408"/>
            <a:ext cx="3520440" cy="19659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092440" y="393192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57032" y="40233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257032" y="426110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«Скругли верх столбцов так, чтобы каждый заканчивался куполом как верхушка яйца; столбцы красные, фон белый»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257032" y="5532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6 строк · график 52 с · правка 449 с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257032" y="5989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Судья: A=1, P=1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Примеры использования: маркеры и сцена вокруг графика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Каков средний вес и год для каждого года?  (car_1)</a:t>
            </a:r>
            <a:endParaRPr lang="en-US" sz="1150" dirty="0"/>
          </a:p>
        </p:txBody>
      </p:sp>
      <p:pic>
        <p:nvPicPr>
          <p:cNvPr id="5" name="Image 0" descr="/Users/drkocharyan/education/matvey_chapter/current_system/sql_agent/PAUQ_ГРАФИКИ_ПРОГОН/D_0129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7088"/>
            <a:ext cx="3520440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60520" y="283464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7" name="Image 1" descr="/Users/drkocharyan/education/matvey_chapter/current_system/sql_agent/PAUQ_ГРАФИКИ_ПРОГОН/D_0129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47088"/>
            <a:ext cx="352044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092440" y="137160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57032" y="14630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257032" y="170078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«Замени точки на линейном графике на маленькие белые яйца, линию сделай красной»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257032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13 строк · график 54 с · правка 189 с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257032" y="3429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Судья: A=1, P=1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393192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9319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Сколько матчей игралось в год?  (wta_1)</a:t>
            </a:r>
            <a:endParaRPr lang="en-US" sz="1150" dirty="0"/>
          </a:p>
        </p:txBody>
      </p:sp>
      <p:pic>
        <p:nvPicPr>
          <p:cNvPr id="15" name="Image 2" descr="/Users/drkocharyan/education/matvey_chapter/current_system/sql_agent/PAUQ_ГРАФИКИ_ПРОГОН/D_0483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07408"/>
            <a:ext cx="3520440" cy="19659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160520" y="539496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17" name="Image 3" descr="/Users/drkocharyan/education/matvey_chapter/current_system/sql_agent/PAUQ_ГРАФИКИ_ПРОГОН/D_0483_m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407408"/>
            <a:ext cx="3520440" cy="19659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092440" y="393192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57032" y="40233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257032" y="426110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«Дорисуй за графиком красную студийную стену с мягким светом, а линию графика сделай белым шнуром, на котором висят белые яйца в точках данных»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257032" y="5532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3 строки · график 57 с · правка 271 с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257032" y="5989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Судья: A=1, P=1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Примеры использования: уровень 3 — где реализм сохраняет данные и где ломает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Укажи максимальный вес и тип для каждого типа питомца  (pets_1)</a:t>
            </a:r>
            <a:endParaRPr lang="en-US" sz="1150" dirty="0"/>
          </a:p>
        </p:txBody>
      </p:sp>
      <p:pic>
        <p:nvPicPr>
          <p:cNvPr id="5" name="Image 0" descr="/Users/drkocharyan/education/matvey_chapter/current_system/sql_agent/PAUQ_ГРАФИКИ_ПРОГОН/D_0051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7088"/>
            <a:ext cx="3520440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60520" y="283464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7" name="Image 1" descr="/Users/drkocharyan/education/matvey_chapter/current_system/sql_agent/PAUQ_ГРАФИКИ_ПРОГОН/D_0051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47088"/>
            <a:ext cx="352044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092440" y="137160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57032" y="14630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257032" y="170078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«Перерисуй столбцы как настоящие белые куриные яйца, стоящие вертикально на красной скатерти; чем выше значение, тем крупнее яйцо»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257032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4 строки · график 52 с · правка 172 с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257032" y="3429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Судья: A=1, P=1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393192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9319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Сколько игроков подходит для каждого типа рук?  (wta_1)</a:t>
            </a:r>
            <a:endParaRPr lang="en-US" sz="1150" dirty="0"/>
          </a:p>
        </p:txBody>
      </p:sp>
      <p:pic>
        <p:nvPicPr>
          <p:cNvPr id="15" name="Image 2" descr="/Users/drkocharyan/education/matvey_chapter/current_system/sql_agent/PAUQ_ГРАФИКИ_ПРОГОН/D_0491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07408"/>
            <a:ext cx="3520440" cy="19659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160520" y="539496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17" name="Image 3" descr="/Users/drkocharyan/education/matvey_chapter/current_system/sql_agent/PAUQ_ГРАФИКИ_ПРОГОН/D_0491_m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407408"/>
            <a:ext cx="3520440" cy="19659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092440" y="393192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57032" y="40233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257032" y="426110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«Перерисуй круговую диаграмму как разрезанное сверху варёное яйцо на красной тарелке, каждая доля — кусок яйца»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257032" y="5532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4 строки, построены столбцами · график 54 с · правка 267 с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257032" y="5989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321F"/>
                </a:solidFill>
              </a:rPr>
              <a:t>Судья: A=1, P=0 — пропорции потеряны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NL2SQL на PAUQ: 100 пар вопросов ru/en, EX 68% против 76%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PAUQ — русская адаптация Spider; взяты пары с одинаковым эталонным SQL. EX — совпадение множества строк результата с эталоном (порядок строк и колонок не учитывается).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037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017520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EX по-русски, ДИ 58–76%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880360" y="205740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81528" y="22037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081528" y="3017520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EX по-английски, ДИ 67–83%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12080" y="2057400"/>
            <a:ext cx="6428232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248" y="2221992"/>
            <a:ext cx="6025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Разрыв 8 п.п., Макнемар p = 0.021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413248" y="2697480"/>
            <a:ext cx="6025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оба верно 67 · только en 9 · только ru 1 · одинаковый SQL на двух языках 73 из 100. На 50 парах разрыв не был значим (p = 0.25). Медиана ответа 14 с, попыток критика 1.1.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852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Конструкция gold-SQL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EX ru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EX en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JOIN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321F"/>
                          </a:solidFill>
                        </a:rPr>
                        <a:t>40%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GROUP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321F"/>
                          </a:solidFill>
                        </a:rPr>
                        <a:t>49%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ORDER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WHERE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вложенный SELECT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59%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59%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583680" y="3931920"/>
            <a:ext cx="5056632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84848" y="4096512"/>
            <a:ext cx="4654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Где теряется русский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784848" y="4572000"/>
            <a:ext cx="46542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Соединения таблиц и группировки. Типовой сбой — лексика: «старшеклассник» превращается в лишний фильтр grade = 12 (3 из 9 ошибок только на русском). Простые выборки и WHERE — одинаково на двух языках.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Полный пайплайн на 100 вопросах PAUQ: 97 графиков, Chart-EX 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Из 9 874 русских вопросов PAUQ отобраны 959 пригодных для графика, из них 780 с агрегатом, топ-N или динамикой; взяты 91 из test и 9 из train. Chart-EX — числа каждой серии и подписи на графике совпадают с эталонным ответом.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график построен; 0 повторных рендеров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0712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SQL-EX: результат SQL совпал с эталоном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3952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Chart-EX: данные на графике совпали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34856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36024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53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потери на стыке: SQL верный, график нет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Верный SQL → ?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график верен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график неверен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SQL верный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4F"/>
                          </a:solidFill>
                        </a:rPr>
                        <a:t>76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5321F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SQL неверный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98324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5321F"/>
                          </a:solidFill>
                        </a:rPr>
                        <a:t>14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217920" y="388620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19088" y="405079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Три потери на стыке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6419088" y="4526280"/>
            <a:ext cx="502005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Дата, хранящаяся числом 19870119, прочитана pandas как наносекунды от 1970 — 1 504 нечитаемых подписей (два вопроса). В двухсерийном графике планировщик поставил минимальный вес на ось X, а пол сделал сериями.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Без графика: ошибка 500 в plot_node, ответ одним числом, неоднозначная колонка в SQL.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Правки диффузией на тех же графиках: AP 77%, от 88% до 62% с ростом сложности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Промпты трёх уровней сложности (цвет → форма элементов → реализм), 59 из 100 — с «яйцом»; оценены 82 правки, 15 не выполнены из-за нехватки памяти (HTTP 503). Судья — Qwen2.5-VL-7b, temperature 0; A, P, AP = 1, если пройдены все критерии группы.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60120"/>
                <a:gridCol w="96012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Группа правок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правок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A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AP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1 · цвет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100%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2 · форма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91%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72%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3 · реализм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62%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с яйцом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48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69%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без яйца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100%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всего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91%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2194560"/>
            <a:ext cx="4507992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33488" y="2359152"/>
            <a:ext cx="4105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</a:rPr>
              <a:t>Та же зависимость, что на английских данных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33488" y="2834640"/>
            <a:ext cx="4105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Чем сложнее промпт, тем ниже AP; реализм чаще всего нарушает P (75%).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132320" y="3886200"/>
            <a:ext cx="4507992" cy="1920240"/>
          </a:xfrm>
          <a:prstGeom prst="roundRect">
            <a:avLst>
              <a:gd name="adj" fmla="val 4762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4050792"/>
            <a:ext cx="4105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</a:rPr>
              <a:t>Судья смещён в плюс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4526280"/>
            <a:ext cx="41056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Яйца разной высоты при равных значениях получили P3 «пропорции сохранены». Согласие судьи с экспертами κ ≈ 0.6, поэтому AP — верхняя оценка; нужна выборочная ручная разметка.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400800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93776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A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правка выполнена: пройдены все критерии A1–A5 (изменение видно, затронуты нужные элементы, сделано полностью, без лишних изменений, картинка целостна). </a:t>
            </a:r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P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данные сохранены: пройдены все критерии P1–P5 (состав элементов, расположение, масштабы и пропорции, визуальное кодирование, нет артефактов). </a:t>
            </a:r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AP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и то и другое одновременно; основная метрика. Группа — уровень сложности промпта или наличие «яйца» в нём; «правок» — сколько оценено.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Ресурсы на одной машине: 75 ГБ моделей при 51,5 ГБ памяти — работа в три фазы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993002" cy="548640"/>
          </a:xfrm>
          <a:prstGeom prst="rect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3993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NL2SQL, 3 роли · 27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41642" y="1554480"/>
            <a:ext cx="1331001" cy="548640"/>
          </a:xfrm>
          <a:prstGeom prst="rect">
            <a:avLst/>
          </a:prstGeom>
          <a:solidFill>
            <a:srgbClr val="4FA3A4"/>
          </a:solidFill>
          <a:ln w="12700">
            <a:solidFill>
              <a:srgbClr val="4FA3A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41642" y="1554480"/>
            <a:ext cx="13310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оркестратор · 9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72643" y="1554480"/>
            <a:ext cx="887334" cy="548640"/>
          </a:xfrm>
          <a:prstGeom prst="rect">
            <a:avLst/>
          </a:prstGeom>
          <a:solidFill>
            <a:srgbClr val="9FD0D0"/>
          </a:solidFill>
          <a:ln w="12700">
            <a:solidFill>
              <a:srgbClr val="9FD0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872643" y="1554480"/>
            <a:ext cx="8873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</a:rPr>
              <a:t>судья · 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59976" y="1554480"/>
            <a:ext cx="4880336" cy="548640"/>
          </a:xfrm>
          <a:prstGeom prst="rect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59976" y="1554480"/>
            <a:ext cx="4880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FLUX · 33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7489" y="1463040"/>
            <a:ext cx="54864" cy="731520"/>
          </a:xfrm>
          <a:prstGeom prst="rect">
            <a:avLst/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2402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▲ 51,5 ГБ общей памяти Mac; FLUX и три LoRA-роли вместе уходят в swap — отсюда ошибки 503 и 4,5 мин на правку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36 ГБ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три LoRA-роли + оркестратор, модели в памяти (KEEP_ALIVE 30 мин); ответ ≈ 1 мин; рабочий режим без правок изображений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C7D"/>
                </a:solidFill>
              </a:rPr>
              <a:t>Фаза 1 · данные и график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9884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42 ГБ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LoRA-роли выгружены, остаются оркестратор + FLUX; 3–4,5 мин на изображение; при автовалидации ×3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9884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8324"/>
                </a:solidFill>
              </a:rPr>
              <a:t>Фаза 2 · правка диффузией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4788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6 ГБ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4788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диффузия остановлена; ≈ 1 мин на пару изображений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4788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</a:rPr>
              <a:t>Фаза 3 · LLM-судья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291840"/>
                <a:gridCol w="27706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Диск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Время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Пользователи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GGUF-модели 42 ГБ + веса FLUX ≈ 35 ГБ ≈ 80 ГБ; базы PAUQ, Spider, BIRD, KaggleDBQA — ещё несколько ГБ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100 вопросов полного цикла ≈ 9 ч; 97% времени — диффузия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один; сервисы переключаются скриптом start_all.sh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Масштабирование: три конфигурации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Рабочая станция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</a:rPr>
              <a:t>Сейчас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Mac или ПК, 48–64 ГБ общей памяти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1 пользователь, сервисы по фазам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LoRA-роли — три копии базы по 9 ГБ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график ≈ 1 мин, правка 3–4,5 мин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100 вопросов с правками ≈ 9 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Сервер с двумя GPU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C7D"/>
                </a:solidFill>
              </a:rPr>
              <a:t>Шаг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9884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GPU A 80 ГБ: vLLM, одна база Qwen 14B + 3 LoRA-адаптера + VL-судья · GPU B 24–48 ГБ: FLUX (bf16 ≈ 18 ГБ трансформер)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все фазы одновременно, батчинг запросов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правка — секунды вместо минут [замер]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одновременных пользователей — [замер]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код готов: контейнеры у каждого сервиса, Ollama → vLLM без правок (OpenAI-протокол)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Кластер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8324"/>
                </a:solidFill>
              </a:rPr>
              <a:t>Шаг 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4788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3932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несколько серверов за балансировщиком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оркестратор, executor, guardrails — реплики, состояние в Redis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диффузия — очередь задач, GPU добавляются по её длине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пул LLM отдельно от пула диффузии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судья — асинхронно после ответа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081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Узкое место — диффузия (97% времени цикла): масштабируется числом GPU и очередью. Память для шага 1 посчитана из размеров весов; цифры в скобках — после первого запуска на сервере.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пришлось исправить на стыке сервисов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480560"/>
                <a:gridCol w="32278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Симптом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Причина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Исправление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График из одной точки: SQL-агент отвечает count(*) или AVG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 Spider/PAUQ числа объявлены как TEXT (MPG, Horsepower, строки «null»); узел не видел меры и просил добавить агрегат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sql_source: мера определяется по значениям, «null» — пропуск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Круговая диаграмма без подписей секторов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планировщик читал «без оси X» буквально и выбрасывал колонку категорий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table_node: круговая без категорий → повторный план; подпись из индекса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Ответ в чате зависает без ошибок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code_executor: результат больше 64 КБ блокировал канал процесса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чтение очереди до join; 5 тестов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LLM-судья ставит всем 1.0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валидатор работал на текстовой модели — изображений не видел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qwen2.5vl:7b; парсер вердикта понимает строки и синонимы ключа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Цветовые правки не доходят до диффузии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роутер правок по дизайну уводит «цвет, тип» в код matplotlib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сигнальные слова в промпте («нарисуй нейросетью»)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Вопрос к базе во время ожидания подтверждения считается правкой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интерфейс шлёт любой текст как decision=edit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описано как ограничение; план — учитывать стадию при маршрутизации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Тесты: 61 в chart_agent (44 на источник SQL), 72 в sql_agent.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Ограничения и дальнейшая работа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627632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321F"/>
                </a:solidFill>
              </a:rPr>
              <a:t>Ограничения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01168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Судья завышает P; AP — верхняя оценка, нужна ручная разметка части русских правок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82 из 97 правок оценены: 15 упали из-за памяти, не из-за модели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В PAUQ почти нет динамики и рассеяний: 31 линия и 2 scatter из 780 вопросов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Поддерживается только SQLite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Все замеры — на одной машине без GPU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422392" cy="4572000"/>
          </a:xfrm>
          <a:prstGeom prst="roundRect">
            <a:avLst>
              <a:gd name="adj" fmla="val 2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9088" y="162763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</a:rPr>
              <a:t>Дальнейшая работа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19088" y="201168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Приведение типов на стыке SQL → pandas (дата-число): 2 из 3 потерь Chart-EX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Маршрутизация вопроса к базе по намерению и стадии диалога, а не только по переключателю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Запуск на сервере с GPU: vLLM multi-LoRA + отдельная GPU под FLUX; замер скорости и числа пользователей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PAUQ на 300 парах; повтор правок на 3–5 seed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Подключение PostgreSQL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l2g">
  <a:themeElements>
    <a:clrScheme name="nl2g">
      <a:dk1>
        <a:srgbClr val="1F2A37"/>
      </a:dk1>
      <a:lt1>
        <a:srgbClr val="FFFFFF"/>
      </a:lt1>
      <a:dk2>
        <a:srgbClr val="4B5563"/>
      </a:dk2>
      <a:lt2>
        <a:srgbClr val="F1F3F6"/>
      </a:lt2>
      <a:accent1>
        <a:srgbClr val="D98324"/>
      </a:accent1>
      <a:accent2>
        <a:srgbClr val="1C7C7D"/>
      </a:accent2>
      <a:accent3>
        <a:srgbClr val="B5321F"/>
      </a:accent3>
      <a:accent4>
        <a:srgbClr val="2E7D4F"/>
      </a:accent4>
      <a:accent5>
        <a:srgbClr val="8A94A6"/>
      </a:accent5>
      <a:accent6>
        <a:srgbClr val="2B3949"/>
      </a:accent6>
      <a:hlink>
        <a:srgbClr val="1C7C7D"/>
      </a:hlink>
      <a:folHlink>
        <a:srgbClr val="4B5563"/>
      </a:folHlink>
    </a:clrScheme>
    <a:fontScheme name="nl2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nl2g — пайплайн, примеры, ресурсы</dc:title>
  <dc:subject>PptxGenJS Presentation</dc:subject>
  <dc:creator>kocharyandr</dc:creator>
  <cp:lastModifiedBy>kocharyandr</cp:lastModifiedBy>
  <cp:revision>1</cp:revision>
  <dcterms:created xsi:type="dcterms:W3CDTF">2026-10-12T22:04:20Z</dcterms:created>
  <dcterms:modified xsi:type="dcterms:W3CDTF">2026-10-12T22:04:20Z</dcterms:modified>
</cp:coreProperties>
</file>