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ервис" id="{7917e307-6790-e5a1-fbf1-9a06e4cb07b4}">
          <p14:sldIdLst>
            <p14:sldId id="256"/>
            <p14:sldId id="257"/>
            <p14:sldId id="258"/>
          </p14:sldIdLst>
        </p14:section>
        <p14:section name="Как это работает" id="{bb554356-065e-aab1-a8ac-deb29a618535}">
          <p14:sldIdLst>
            <p14:sldId id="259"/>
            <p14:sldId id="260"/>
            <p14:sldId id="261"/>
          </p14:sldIdLst>
        </p14:section>
        <p14:section name="Насколько это работает" id="{3acb6e6e-6187-fd53-1441-73b77e934c32}">
          <p14:sldIdLst>
            <p14:sldId id="262"/>
            <p14:sldId id="263"/>
            <p14:sldId id="264"/>
            <p14:sldId id="265"/>
          </p14:sldIdLst>
        </p14:section>
        <p14:section name="Как расти" id="{56e77f75-c2bf-08b1-7c2a-f94166876122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про технологии, а про сервис: человек задаёт вопрос обычным языком и получает график из базы. Дальше — как это работает, насколько точно, что стоит и как расти.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не в сложности вопросов, а в том, что между вопросом и картинкой стоят люди и очередь. Сервис убирает эту очередь для типовых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настоящий. Обратите внимание на свёрнутый блок «SQL-запрос» под графиком — любой ответ можно проверить.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шагов. Ключевой — второй: сервис выполняет написанный запрос и смотрит на результат, как сделал бы аналитик.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Сервисы независимы, их можно менять и масштабировать по отдельности. NL2SQL-агент выделен: это дообученная часть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Пара «до — после» из прогона на открытых данных. Фраза пользователя дословно в заголовке правой картинки.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из отчёта ГРАФИКИ_PAUQ_ОТЧЁТ.html, каждый вопрос можно открыть и увидеть запрос, эталон и график. Разрыв между русским и английским — 8 пунктов, статистически значим.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 же закономерность, что в исследовании на английских данных: чем сложнее просьба, тем выше риск исказить график.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ограничение железа, а не архитектуры: сервисы независимы и на сервере работают одновременно.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Вопрос, который задают первым: что сервис может натворить в базе. Ответ — ничего: только чтение, лимиты, изоляция.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Узкое место при росте — диффузия: 97% времени цикла. Его масштабируют числом видеокарт и очередью, остальное — обычными копиями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честный: это то, что нашли на замерах, а не предположения. У каждого пункта есть понятный следующий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Пилот нужен не для демонстрации, а для цифр на реальных данных: точность на открытом наборе и на базе отдела — разные вещи.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Закрываем тем, с чего начали: вопрос — график — проверяемый ответ. Следующий шаг — пилот на реальной базе.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FB3C8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FB3C8"/>
                </a:solidFill>
              </a:rPr>
              <a:t>NL2G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9601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Спросил по-русски — получил график из базы данных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DF"/>
                </a:solidFill>
              </a:rPr>
              <a:t>Сервис отвечает на вопросы к корпоративной базе готовыми графиками. Без аналитика, без SQL, без ожидания. Вопрос — и через минуту картинка, которую можно переделать словами.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</a:rPr>
              <a:t>Защита проекта · октябрь 2026 · github.com/kocharyandr/nl2g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Между вопросом и графиком сегодня стоит очередь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Руководитель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«Сколько продали по городам в этом квартале?»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633472" y="2606040"/>
            <a:ext cx="146304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98064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9232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Заявка аналитику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99232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письмо или задача в трекере, ожидание очереди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82896" y="2606040"/>
            <a:ext cx="146304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47488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48656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Аналитик пишет SQL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48656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ищет нужные таблицы, уточняет вопрос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0" y="2606040"/>
            <a:ext cx="146304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96912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Строит график в BI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подбирает тип, подписи, цвета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381744" y="2606040"/>
            <a:ext cx="146304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546336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47504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Ответ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747504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через часы или дни; на уточнение — заново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11091672" cy="1737360"/>
          </a:xfrm>
          <a:prstGeom prst="roundRect">
            <a:avLst>
              <a:gd name="adj" fmla="val 5263"/>
            </a:avLst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Что здесь дорого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5262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9D3DF"/>
                </a:solidFill>
              </a:rPr>
              <a:t>Каждая стрелка — это человек и ожидание. Простой вопрос занимает время аналитика, а руководитель к моменту ответа уже задал следующий. Уточнение «а теперь по месяцам» запускает весь круг заново.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Вопрос в чат — через минуту график и запрос, которым он получен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0" y="1600200"/>
            <a:ext cx="4023360" cy="502920"/>
          </a:xfrm>
          <a:prstGeom prst="roundRect">
            <a:avLst>
              <a:gd name="adj" fmla="val 45455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474720" y="16002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построй график выручки по городам</a:t>
            </a:r>
            <a:endParaRPr lang="en-US" sz="1300" dirty="0"/>
          </a:p>
        </p:txBody>
      </p:sp>
      <p:pic>
        <p:nvPicPr>
          <p:cNvPr id="5" name="Image 0" descr="cha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0280"/>
            <a:ext cx="4206240" cy="3831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0" y="2240280"/>
            <a:ext cx="2560320" cy="3831336"/>
          </a:xfrm>
          <a:prstGeom prst="roundRect">
            <a:avLst>
              <a:gd name="adj" fmla="val 3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 секунд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3017520"/>
            <a:ext cx="2194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от вопроса до ответа: график, пояснение на русском, число строк и свёрнутый блок с запросом к базе.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Ниже на экране — кнопки «Подтвердить» и «Отмена».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1264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Реальный экран сервиса, база «Розничная сеть»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72400" y="1554480"/>
            <a:ext cx="3867912" cy="1371600"/>
          </a:xfrm>
          <a:prstGeom prst="roundRect">
            <a:avLst>
              <a:gd name="adj" fmla="val 666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73568" y="1737360"/>
            <a:ext cx="3465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Спрашивают как есть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973568" y="2249424"/>
            <a:ext cx="34655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«выручка по городам», «топ-5 товаров», «сколько магазинов в каждом городе» — без названий таблиц и полей.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0" y="3063240"/>
            <a:ext cx="3867912" cy="1371600"/>
          </a:xfrm>
          <a:prstGeom prst="roundRect">
            <a:avLst>
              <a:gd name="adj" fmla="val 666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73568" y="3246120"/>
            <a:ext cx="3465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Видно, откуда цифры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73568" y="3758184"/>
            <a:ext cx="34655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Под графиком лежит запрос к базе и число строк. Это проверяемый ответ, а не картинка на доверии.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772400" y="4572000"/>
            <a:ext cx="3867912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73568" y="4754880"/>
            <a:ext cx="3465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Правят словами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973568" y="5266944"/>
            <a:ext cx="346557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«а теперь линией», «подпиши значения», «нарисуй в стиле акварели» — следующая версия приходит в тот же диалог.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Пять шагов от вопроса до картинки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37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Понять вопрос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494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Сервис определяет, о чём спросили, и находит в базе нужные таблицы и поля. Если вопрос неясен — переспрашивает.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737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Получить данные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2494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Пишет запрос к базе, выполняет его и сам проверяет результат. Если запрос упал или вернул не то — переписывает, до трёх раз.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37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Построить график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8496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Выбирает тип графика под данные и рисует его программным кодом — цифры на картинке в точности те, что в базе.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1546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3375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3337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Показать человеку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8496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Пользователь подтверждает график или правит словами: другой тип, цвет, подписи. Ничего не уходит дальше без его согласия.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937760"/>
            <a:ext cx="457200" cy="45720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Оформить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54498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По желанию — правка картинки диффузионной моделью (фирменный стиль, иллюстрация для отчёта). LLM-судья проверяет, что данные на графике не пострадали.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17920" y="47548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4892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Где здесь человек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52578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DF"/>
                </a:solidFill>
              </a:rPr>
              <a:t>Только на шаге 4. Всё до него — автоматически, всё после — по его команде. Это сознательное решение: сервис ускоряет аналитику, а не заменяет ответственность за цифры.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Внутри — семь сервисов, у каждого одна обязанность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373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Оркестратор (chart_agent)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0370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Граф состояний на LangGraph: ведёт диалог, маршрутизирует намерение, останавливается на подтверждении человеком.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55848" y="155448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57016" y="17373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NL2SQL-агент (sql_agent)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57016" y="220370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Три роли с LoRA-адаптерами: schema-агент выбирает таблицы, SQL-агент пишет запрос, критик выполняет его и проверяет результат.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63056" y="155448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7373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Исполнитель кода (code_executor)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220370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Выполняет сгенерированный pandas- и matplotlib-код в отдельном процессе с таймаутом и возвращает картинку.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70264" y="155448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71432" y="17373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Диффузионная модель (diffusion_service)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71432" y="220370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FLUX.2 Klein 9B с дообученной LoRA: правит картинку графика по текстовому промпту.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97764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LLM-судья (Qwen2.5-VL)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44398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Сравнивает график до и после правки по 10 критериям: A1–A5 — правка выполнена, P1–P5 — данные сохранены.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355848" y="379476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57016" y="397764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Guardrails (GLiNER2)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57016" y="444398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Фильтр безопасности на входе и быстрая классификация намерения без обращения к большой модели.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63056" y="379476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64224" y="397764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Хранилище состояния (Redis)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364224" y="444398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Состояние каждой сессии: правки применяются к нужному графику и переживают перезапуск сервиса.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970264" y="379476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71432" y="397764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Всё на своих серверах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171432" y="444398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Модели работают локально: вопросы и данные из базы не покидают контур компании.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Оформление меняется одной фразой, цифры остаются на месте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4A6"/>
                </a:solidFill>
              </a:rPr>
              <a:t>ДО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6364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94A6"/>
                </a:solidFill>
              </a:rPr>
              <a:t>ПОСЛЕ: «сделай столбцы ярко-красными, фон белый, оси чёрные»</a:t>
            </a:r>
            <a:endParaRPr lang="en-US" sz="1100" dirty="0"/>
          </a:p>
        </p:txBody>
      </p:sp>
      <p:pic>
        <p:nvPicPr>
          <p:cNvPr id="5" name="Image 0" descr="/Users/drkocharyan/education/matvey_chapter/current_system/sql_agent/МТС_ПРАВКИ/01_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394960" cy="3218688"/>
          </a:xfrm>
          <a:prstGeom prst="rect">
            <a:avLst/>
          </a:prstGeom>
        </p:spPr>
      </p:pic>
      <p:pic>
        <p:nvPicPr>
          <p:cNvPr id="6" name="Image 1" descr="/Users/drkocharyan/education/matvey_chapter/current_system/sql_agent/МТС_ПРАВКИ/01_af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5394960" cy="321868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3492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Это правка картинки диффузионной моделью FLUX, а не перерисовка кодом: подписи, значения и пропорции столбцов сохранены. Такие правки нужны, когда график идёт в отчёт или презентацию в фирменных цветах.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Восемь графиков из десяти верны — поэтому под каждым есть запрос и кнопка подтверждения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Проверка на открытом русскоязычном наборе PAUQ: 100 вопросов к 19 базам, у каждого есть эталонный ответ. Считали честно: совпадение с эталоном, а не «похоже на правду».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359152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218688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из 100 вопросов превратились в график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10712" y="219456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359152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218688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графиков с цифрами, совпавшими с эталоном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2784" y="219456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2359152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218688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правильных запросов к базе на русском (76 — на английском)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34856" y="2194560"/>
            <a:ext cx="2505456" cy="2011680"/>
          </a:xfrm>
          <a:prstGeom prst="roundRect">
            <a:avLst>
              <a:gd name="adj" fmla="val 4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36024" y="235915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3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32186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графика, где данные потерялись уже после верного запроса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4663440"/>
            <a:ext cx="5084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Что это значит для пользователя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5175504"/>
            <a:ext cx="5084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Два графика из десяти нужно перепроверить. Для этого под каждым показан запрос к базе и число строк, а график не уходит дальше без подтверждения.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480560"/>
            <a:ext cx="5422392" cy="160020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9088" y="4663440"/>
            <a:ext cx="5020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Где ошибки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19088" y="5175504"/>
            <a:ext cx="50200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Вопросы, где нужно связать несколько таблиц, и группировки. Простые выборки и фильтры решаются одинаково хорошо на русском и английском.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Диффузионная правка справляется с цветом и формой, но реализм портит данные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82 правки на тех же графиках, три уровня сложности. Оценка — LLM-судья по 10 критериям; правка засчитана (AP), если выполнена и данные не искажены.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57607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00584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Что просили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Правок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Засчитано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Сменить цвета, фон, рамку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88%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Изменить форму элементов (скруглить, заменить на яйца)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324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Перерисовать как реальные предметы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5321F"/>
                          </a:solidFill>
                        </a:rPr>
                        <a:t>62%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Все правки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82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Users/drkocharyan/education/matvey_chapter/current_system/sql_agent/PAUQ_ГРАФИКИ_ПРОГОН/D_0012_m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194560"/>
            <a:ext cx="5056632" cy="27889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583680" y="5029200"/>
            <a:ext cx="5056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«Столбцы в форме яиц»: все четыре значения, кроме первого, равны 1, а яйца разной высоты. LLM-судья этого не заметил.</a:t>
            </a:r>
            <a:endParaRPr lang="en-US" sz="1150" dirty="0"/>
          </a:p>
        </p:txBody>
      </p:sp>
      <p:sp>
        <p:nvSpPr>
          <p:cNvPr id="7" name="Shape 3"/>
          <p:cNvSpPr/>
          <p:nvPr/>
        </p:nvSpPr>
        <p:spPr>
          <a:xfrm>
            <a:off x="548640" y="4846320"/>
            <a:ext cx="5760720" cy="1280160"/>
          </a:xfrm>
          <a:prstGeom prst="roundRect">
            <a:avLst>
              <a:gd name="adj" fmla="val 7143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49377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DF"/>
                </a:solidFill>
              </a:rPr>
              <a:t>Вывод для внедрения: цветовые и простые правки можно отдавать автомату, сложные — только с просмотром человеком. LLM-судья завышает оценку: согласие с экспертами κ ≈ 0.6.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Сейчас всё работает на одном компьютере — для одного пользователя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19072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мин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578608"/>
            <a:ext cx="3163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от вопроса до графика с SQL-запросом под ним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98848" y="1719072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3–4,5 мин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98848" y="2578608"/>
            <a:ext cx="3163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правка картинки диффузионной моделью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593592" cy="1828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47888" y="1719072"/>
            <a:ext cx="3191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2578608"/>
            <a:ext cx="3191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пользователь за раз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1645920"/>
                <a:gridCol w="44165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Что занимает память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Сколько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Когда нужно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NL2SQL-агент, три LoRA-роли (Qwen2.5-Coder-14B)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27 ГБ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всегда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Оркестратор: модель qwen2.5-coder:14b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всегда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Диффузионная модель FLUX.2 Klein 9B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33 ГБ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только для правок картинок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LLM-судья Qwen2.5-VL-7B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6 ГБ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только для оценки правок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Всего 75 ГБ при 51,5 ГБ на рабочей машине, поэтому сервисы включаются по очереди. Для демонстрации без диффузии хватает 36 ГБ.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Сервис читает базу, но не может её изменить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3736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Только чтение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0370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К базе допускается единственный тип запроса — выборка. Изменение, удаление и создание таблиц блокируются до выполнения.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98848" y="173736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Ограничение объёма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98848" y="220370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Запрос возвращает не больше заданного числа строк и прерывается по времени. Тяжёлый вопрос не положит базу.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47888" y="173736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Код в изоляции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220370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Программа, рисующая график, выполняется в отдельном процессе с таймаутом. Ошибка в ней не затрагивает сервис.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97764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Данные не уходят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444398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Все модели работают на своём сервере. Ни вопросы, ни содержимое базы не передаются внешним сервисам.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97680" y="379476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8848" y="397764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Фильтр на входе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98848" y="444398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Запросы с недопустимым содержанием отсекаются до обработки.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379476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47888" y="397764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След каждого ответа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444398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К каждому графику приложен запрос, число строк и история правок — ответ можно проверить и воспроизвести.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Три ступени роста: рабочее место, отдел, компания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93592" cy="452628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3736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Одно рабочее место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94A6"/>
                </a:solidFill>
              </a:rPr>
              <a:t>СЕЙЧАС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2331720"/>
            <a:ext cx="31912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Mac или ПК с 48–64 ГБ памяти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1546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1 пользователь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сервисы по очереди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график за минуту, правка за 3–4,5 мин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подходит для демонстрации и пилота на одном человеке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593592" cy="452628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73736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Сервер для отдела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8324"/>
                </a:solidFill>
              </a:rPr>
              <a:t>ШАГ 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98848" y="2331720"/>
            <a:ext cx="31912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3774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одна видеокарта 80 ГБ под LLM (vLLM) + одна 24–48 ГБ под FLUX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31546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все сервисы работают одновременно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запросы нескольких людей обрабатываются пачкой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график по-прежнему ≈ 1 мин, правка — секунды, а не минуты [замер на сервере]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число одновременных пользователей — [замер]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93592" cy="452628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73736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Кластер для компании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C7C7D"/>
                </a:solidFill>
              </a:rPr>
              <a:t>ШАГ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247888" y="2331720"/>
            <a:ext cx="31912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39328" y="23774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несколько серверов за балансировщиком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31546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оркестратор и code_executor — в нескольких копиях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диффузия — через очередь, видеокарты добавляются по её длине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состояние диалогов — в общем хранилище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LLM-судья — в фоне, не задерживая ответ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Каждый сервис — отдельный контейнер; диффузия уже работала на сервере с видеокартой. Цифры в скобках появятся после первого запуска на сервере.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сервис делает плохо и что с этим делать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108960"/>
                <a:gridCol w="3959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Слабое место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Насколько серьёзно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Что делаем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Сложные вопросы с несколькими таблицами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точность падает до 40–50%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дообучение на таких примерах; подсказка пользователю разбить вопрос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Русский хуже английского на 8 пунктов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слова вроде «старшеклассник» превращаются в лишние условия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русские примеры в обучающем наборе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Диффузионная модель искажает пропорции при сложных правках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каждая третья реалистичная правка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сложные правки — только с просмотром человеком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LLM-судья завышает оценку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пропускает часть искажений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выборочная ручная проверка, порог строже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Новый вопрос к базе во время ожидания подтверждения считается правкой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путает пользователя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учитывать состояние диалога при разборе сообщения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Поддерживается одна СУБД (SQLite)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корпоративные базы обычно на других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подключение PostgreSQL и аналогов — следующая версия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нужно, чтобы запустить пилот в отделе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37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Сервер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49424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Одна видеокарта на 80 ГБ и одна на 24–48 ГБ, либо облачный аналог на время пилота. На нём снимаем цифры скорости и числа пользователей.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737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База и вопросы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249424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Копия реальной базы только для чтения и 30–50 типовых вопросов отдела с известными правильными ответами — это станет мерилом точности на ваших данных.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931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Люди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443984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Два-три сотрудника, которые две недели задают вопросы сервису вместо аналитика, и один аналитик, который проверяет ответы.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93192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3931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Критерий успеха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4443984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Доля графиков, принятых без исправлений, и время от вопроса до ответа по сравнению с текущим процессом. Пороги договариваемся до старта.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</a:rPr>
              <a:t>Установка — по инструкции из репозитория, скриптом; LoRA-адаптеры NL2SQL-агента лежат там же.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Что получает пользователь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37360"/>
            <a:ext cx="5038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Ответ за минуту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49424"/>
            <a:ext cx="50383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D3DF"/>
                </a:solidFill>
              </a:rPr>
              <a:t>вместо очереди к аналитику — для типовых вопросов о продажах, остатках, динамике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9088" y="1737360"/>
            <a:ext cx="5038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Проверяемость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249424"/>
            <a:ext cx="50383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D3DF"/>
                </a:solidFill>
              </a:rPr>
              <a:t>под каждым графиком запрос к базе; ничего не принимается без подтверждения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474720"/>
            <a:ext cx="5038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Оформление словами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3986784"/>
            <a:ext cx="50383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D3DF"/>
                </a:solidFill>
              </a:rPr>
              <a:t>от смены цвета до иллюстрации в фирменном стиле — в том же диалоге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17920" y="329184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3474720"/>
            <a:ext cx="5038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Свои данные у себя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3986784"/>
            <a:ext cx="50383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D3DF"/>
                </a:solidFill>
              </a:rPr>
              <a:t>сервис работает в контуре компании, базу только читает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</a:rPr>
              <a:t>Код, инструкция по запуску, отчёты по замерам и эта презентация — github.com/kocharyandr/nl2g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L2G pitch">
  <a:themeElements>
    <a:clrScheme name="NL2G pitch">
      <a:dk1>
        <a:srgbClr val="1F2A37"/>
      </a:dk1>
      <a:lt1>
        <a:srgbClr val="FFFFFF"/>
      </a:lt1>
      <a:dk2>
        <a:srgbClr val="4B5563"/>
      </a:dk2>
      <a:lt2>
        <a:srgbClr val="F1F3F6"/>
      </a:lt2>
      <a:accent1>
        <a:srgbClr val="D98324"/>
      </a:accent1>
      <a:accent2>
        <a:srgbClr val="1C7C7D"/>
      </a:accent2>
      <a:accent3>
        <a:srgbClr val="B5321F"/>
      </a:accent3>
      <a:accent4>
        <a:srgbClr val="2E7D4F"/>
      </a:accent4>
      <a:accent5>
        <a:srgbClr val="8A94A6"/>
      </a:accent5>
      <a:accent6>
        <a:srgbClr val="2B3949"/>
      </a:accent6>
      <a:hlink>
        <a:srgbClr val="1C7C7D"/>
      </a:hlink>
      <a:folHlink>
        <a:srgbClr val="4B5563"/>
      </a:folHlink>
    </a:clrScheme>
    <a:fontScheme name="NL2G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NL2G — графики по вопросу к базе данных</dc:title>
  <dc:subject>PptxGenJS Presentation</dc:subject>
  <dc:creator>kocharyandr</dc:creator>
  <cp:lastModifiedBy>kocharyandr</cp:lastModifiedBy>
  <cp:revision>1</cp:revision>
  <dcterms:created xsi:type="dcterms:W3CDTF">2026-10-12T19:22:37Z</dcterms:created>
  <dcterms:modified xsi:type="dcterms:W3CDTF">2026-10-12T19:22:37Z</dcterms:modified>
</cp:coreProperties>
</file>