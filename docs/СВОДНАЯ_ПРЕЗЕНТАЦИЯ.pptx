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Что объединяем" id="{dc575f13-c80f-9771-c876-2eb6ccec8a8d}">
          <p14:sldIdLst>
            <p14:sldId id="256"/>
            <p14:sldId id="257"/>
          </p14:sldIdLst>
        </p14:section>
        <p14:section name="Как устроены агенты" id="{3aac8c85-3882-98e5-c47d-fb5c29ff8d71}">
          <p14:sldIdLst>
            <p14:sldId id="258"/>
            <p14:sldId id="259"/>
            <p14:sldId id="260"/>
            <p14:sldId id="261"/>
          </p14:sldIdLst>
        </p14:section>
        <p14:section name="Что намерили" id="{50095ab4-8a3b-4f2f-3f3b-1b7281e3770d}">
          <p14:sldIdLst>
            <p14:sldId id="262"/>
            <p14:sldId id="263"/>
            <p14:sldId id="264"/>
            <p14:sldId id="265"/>
          </p14:sldIdLst>
        </p14:section>
        <p14:section name="Ресурсы и масштабирование" id="{d2948c69-e91d-fb31-0aab-c7c71e74b0db}">
          <p14:sldIdLst>
            <p14:sldId id="266"/>
            <p14:sldId id="267"/>
            <p14:sldId id="268"/>
          </p14:sldIdLst>
        </p14:section>
        <p14:section name="Ограничения и шаги" id="{be8d44ad-f75a-4b69-6ac1-49a72e08a44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система: NL2SQL-агент из первого диплома стал третьим источником данных в оркестраторе второго. Презентация: архитектура, метрики на русских данных PAUQ, ресурсы и масштабирование.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диплом отвечает за данные, второй — за визуализацию и правки. Интеграция минимальна: новый узел sql_source в графе оркестратора и переключатель в интерфейсе.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LLM-роли живут в одном Ollama и обращаются к нему по OpenAI-совместимому протоколу. Диффузия и судья — отдельные тяжёлые сервисы; на одной машине их приходится включать по очереди.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идея диплома 1 — критик с исполнением: модель видит реальную ошибку SQLite и реальный результат, а не угадывает. Три адаптера грузятся в Ollama как три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Синяя цепочка — путь до графика, оранжевая — после подтверждения. Единственное изменение в графе — узел sql_source и маршрут к нему по галочке в интерфейсе.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 диффузии на Mac — это MPS без оптимизаций и постоянное вытеснение в swap. На GPU-сервере этот шаг укорачивается сильнее всего.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PAUQ — русская адаптация Spider с изменёнными значениями в базах (Атлантида, Гиперборея, певец из России), поэтому эталон нельзя заменить оригинальными базами Spider. Отчёты: PAUQ_РАЗБОР_100.html, pauq_stats_100.txt.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Жёлтая клетка — SQL отличается от эталона лишней колонкой id, а числа на графике те же. Три вопроса без графика: ошибка 500 внутри plot_node, ответ одним числом, неоднозначная колонка в SQL. Отчёт: ГРАФИКИ_PAUQ_ОТЧЁТ.html.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— правка выполнена (A1–A5), P — аналитика сохранена (P1–P5), AP — обе группы. Судья тот же, что в дипломе 2, с теми же промптами.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одна из проблем не была в моделях: все — на границах сервисов, в типах данных и маршрутизации. Это аргумент в пользу интеграционных метрик вроде Chart-EX.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LoRA-роли в GGUF — это три полные копии базовой модели: Ollama не делит базу между адаптерами. На сервере с vLLM multi-LoRA это одна база и три маленьких адаптера.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Фазы — не архитектурное решение, а следствие одной машины. На сервере с двумя GPU все три работают одновременно.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Оценки для GPU не измерены: в скобках оставлены места под цифры после первого запуска на сервере. Память для шага 1 посчитана из размеров весов, а не замерена.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дешёвое улучшение — исправить приведение типов на стыке: оно даёт 2 из 3 потерь Chart-EX. Самое дорогое — ручная валидация судьи на русских правках.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слайд: пять чисел, по одному на каждую часть работы, и ссылка на отчёты, где каждое число можно проверить по карточкам.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NL2G · объединение дипломов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6EA"/>
                </a:solidFill>
              </a:rPr>
              <a:t>NL2G · объединение дипломов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6E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B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СВОДНАЯ ПРЕЗЕНТАЦИЯ · ОКТЯБРЬ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NL2SQL + генеративные графики: одна система из двух дипломов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D0E6"/>
                </a:solidFill>
              </a:rPr>
              <a:t>Вопрос на русском → SQL к базе → график → правка «нейросетью» → автоматическая оценка. Схемы агентов, замеры на PAUQ, ресурсы и план масштабирования.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53492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2A3A52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5349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BE6F4"/>
                </a:solidFill>
              </a:rPr>
              <a:t>Диплом 1 · NL2SQL с LoRA-ролями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0" y="53492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2A3A52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5349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BE6F4"/>
                </a:solidFill>
              </a:rPr>
              <a:t>Диплом 2 · агентная генерация и правка графиков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Два диплома и точка стыка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9961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ДИПЛОМ 1 · NL2SQL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73936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2"/>
                </a:solidFill>
              </a:rPr>
              <a:t>Вопрос на естественном языке → SQL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40280"/>
            <a:ext cx="5157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Три роли с LoRA-адаптерами: схема → SQL → критик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Критик выполняет запрос и возвращает на доработку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Schema Profile и RAG-сужение схемы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57.3% EX на KaggleDBQA; запуск через Ollama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9944" y="149961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3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ДИПЛОМ 2 · ГРАФИКИ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9944" y="1773936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2"/>
                </a:solidFill>
              </a:rPr>
              <a:t>Данные → график → генеративная правка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9944" y="2240280"/>
            <a:ext cx="5157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Оркестратор на LangGraph, человек подтверждает график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Код matplotlib исполняется в изолированном процессе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Правка картинки: FLUX.2 Klein 9B + LoRA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LLM-судья по 10 критериям (A1–5, P1–5), κ 0.59–0.67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11274552" cy="1417320"/>
          </a:xfrm>
          <a:prstGeom prst="roundRect">
            <a:avLst>
              <a:gd name="adj" fmla="val 7742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663440"/>
            <a:ext cx="10725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Стык: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NL2SQL-агент стал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третьим источником данных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оркестратора — рядом с текстом и CSV. Галочка «Данные из базы» в чате отправляет вопрос SQL-агенту, таблица идёт дальше по обычному пути.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Сервисы объединённой системы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70248" y="128016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34840" y="140817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Чат (Gradio)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1737360"/>
            <a:ext cx="3328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A5568"/>
                </a:solidFill>
              </a:rPr>
              <a:t>текст, CSV, картинка, галочка «Данные из базы»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9048" y="2176272"/>
            <a:ext cx="0" cy="384048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41448" y="2606040"/>
            <a:ext cx="7315200" cy="914400"/>
          </a:xfrm>
          <a:prstGeom prst="roundRect">
            <a:avLst>
              <a:gd name="adj" fmla="val 12000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2734056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chart_agent — оркестратор (FastAPI + LangGraph)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063240"/>
            <a:ext cx="698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BFD0E6"/>
                </a:solidFill>
              </a:rPr>
              <a:t>граф состояний, маршрутизация намерений, подтверждение человеком, состояние сессий в Redis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99048" y="3547872"/>
            <a:ext cx="0" cy="384048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977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410565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</a:rPr>
              <a:t>sql_agent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434840"/>
            <a:ext cx="2368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A5568"/>
                </a:solidFill>
              </a:rPr>
              <a:t>NL2SQL из диплома 1: схема → SQL → критик; только SELECT, read-only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9272" y="3977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83864" y="410565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code_executor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83864" y="4434840"/>
            <a:ext cx="2368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A5568"/>
                </a:solidFill>
              </a:rPr>
              <a:t>pandas и matplotlib в отдельном процессе с таймаутом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81344" y="3977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45936" y="410565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diffusion_service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4434840"/>
            <a:ext cx="2368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A5568"/>
                </a:solidFill>
              </a:rPr>
              <a:t>FLUX.2 Klein 9B + LoRA: правка картинки по промпту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43416" y="3977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08008" y="410565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guardrails_api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08008" y="4434840"/>
            <a:ext cx="2368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A5568"/>
                </a:solidFill>
              </a:rPr>
              <a:t>GLiNER2: фильтр безопасности и быстрая маршрутизация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4406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Ollama: 3 LoRA-роли NL2SQL · qwen2.5-coder:14b · qwen2.5vl:7b (судья)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54406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 — сессии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SQL-агент: три роли и цикл критики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9961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СХЕМА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7393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Выбирает таблицы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7627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Schema Profile базы + RAG-сужение; на выход — нужные таблицы и колонки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63240" y="2240280"/>
            <a:ext cx="274320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49961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SQL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177393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Пишет запрос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17627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Один SELECT по суженной схеме; валидация: без DDL/DML, лимит строк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2240280"/>
            <a:ext cx="274320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9050">
            <a:solidFill>
              <a:srgbClr val="E365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149961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3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КРИТИК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177393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Выполняет и проверяет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17627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Запускает SQL, смотрит ошибку и результат; до 3 попыток, возврат к роли 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2240280"/>
            <a:ext cx="274320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1371600"/>
            <a:ext cx="2496312" cy="1737360"/>
          </a:xfrm>
          <a:prstGeom prst="roundRect">
            <a:avLst>
              <a:gd name="adj" fmla="val 6316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00032" y="1499616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B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400032" y="1773936"/>
            <a:ext cx="21671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BFD0E6"/>
                </a:solidFill>
              </a:rPr>
              <a:t>таблица + SQL + пояснение на русском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557016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8794"/>
                </a:solidFill>
              </a:rPr>
              <a:t>Модели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959352"/>
            <a:ext cx="3282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5568"/>
                </a:solidFill>
              </a:rPr>
              <a:t>Qwen 14B + LoRA (ранг 8, слои 32–47), по адаптеру на роль; MLX → PEFT → GGUF → Ollama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88536" y="34290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53128" y="3557016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8794"/>
                </a:solidFill>
              </a:rPr>
              <a:t>Измерено на PAUQ, 100 пар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53128" y="3959352"/>
            <a:ext cx="3282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5568"/>
                </a:solidFill>
              </a:rPr>
              <a:t>Медиана ответа 14 с; попыток критика в среднем 1.1; отказов на русском 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34290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4464" y="3557016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8794"/>
                </a:solidFill>
              </a:rPr>
              <a:t>Базы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3959352"/>
            <a:ext cx="3282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5568"/>
                </a:solidFill>
              </a:rPr>
              <a:t>Реестр SQLite: KaggleDBQA, Spider, BIRD, PAUQ (167 баз), демо «РозничнаяСеть»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Оркестратор: граф состояний одного диалога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53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Построение графика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73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interaction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8483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намерение: текст, CSV, база, картинка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2888" y="2441448"/>
            <a:ext cx="210312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61488" y="16459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773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</a:rPr>
              <a:t>sql_source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08483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новый узел: вопрос → sql_agent → таблица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37176" y="2441448"/>
            <a:ext cx="210312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65776" y="16459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0368" y="1773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table_node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08483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LLM пишет pandas-план: оси, серии, агрегация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1464" y="2441448"/>
            <a:ext cx="210312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70064" y="16459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4656" y="1773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plot_node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208483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код matplotlib → code_executor, до 3 попыток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45752" y="2441448"/>
            <a:ext cx="210312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74352" y="16459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38944" y="1773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approval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38944" y="208483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BFD0E6"/>
                </a:solidFill>
              </a:rPr>
              <a:t>человек: «Подтвердить», «Отмена» или правка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76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После подтверждения — правка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edit_router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450799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кодовая правка (цвет, тип) или диффузия (стиль)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32888" y="4864608"/>
            <a:ext cx="210312" cy="0"/>
          </a:xfrm>
          <a:prstGeom prst="line">
            <a:avLst/>
          </a:prstGeom>
          <a:noFill/>
          <a:ln w="28575">
            <a:solidFill>
              <a:srgbClr val="E3651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761488" y="40690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26080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prompt_enhancer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450799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LLM переводит правку в промпт для FLUX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37176" y="4864608"/>
            <a:ext cx="210312" cy="0"/>
          </a:xfrm>
          <a:prstGeom prst="line">
            <a:avLst/>
          </a:prstGeom>
          <a:noFill/>
          <a:ln w="28575">
            <a:solidFill>
              <a:srgbClr val="E3651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65776" y="40690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9050">
            <a:solidFill>
              <a:srgbClr val="E3651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30368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3651D"/>
                </a:solidFill>
              </a:rPr>
              <a:t>image_diffusion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230368" y="450799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FLUX.2 Klein 9B + LoRA, 4 шага, seed фиксирован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41464" y="4864608"/>
            <a:ext cx="210312" cy="0"/>
          </a:xfrm>
          <a:prstGeom prst="line">
            <a:avLst/>
          </a:prstGeom>
          <a:noFill/>
          <a:ln w="28575">
            <a:solidFill>
              <a:srgbClr val="E3651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70064" y="40690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34656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534656" y="450799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</a:rPr>
              <a:t>VL-судья: 10 критериев, до 3 итераций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45752" y="4864608"/>
            <a:ext cx="210312" cy="0"/>
          </a:xfrm>
          <a:prstGeom prst="line">
            <a:avLst/>
          </a:prstGeom>
          <a:noFill/>
          <a:ln w="28575">
            <a:solidFill>
              <a:srgbClr val="E3651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74352" y="40690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38944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ответ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838944" y="4507992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BFD0E6"/>
                </a:solidFill>
              </a:rPr>
              <a:t>картинка + использованный SQL под графиком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Сколько живёт один запрос на одной машине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Медианы по прогону 100 вопросов PAUQ на Mac с 51.5 ГБ общей памяти; модели в Ollama, FLUX на MPS.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084832" cy="210312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47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SQL-агент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031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</a:rPr>
              <a:t>14 с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807208"/>
            <a:ext cx="17556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три роли, в среднем 1.1 попытки критика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0" y="2743200"/>
            <a:ext cx="182880" cy="0"/>
          </a:xfrm>
          <a:prstGeom prst="line">
            <a:avLst/>
          </a:prstGeom>
          <a:noFill/>
          <a:ln w="2857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70632" y="1737360"/>
            <a:ext cx="2084832" cy="210312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35224" y="1847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план + код + рендер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21031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</a:rPr>
              <a:t>≈ 40 с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2807208"/>
            <a:ext cx="17556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график готов через 52–66 с после вопроса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43200"/>
            <a:ext cx="182880" cy="0"/>
          </a:xfrm>
          <a:prstGeom prst="line">
            <a:avLst/>
          </a:prstGeom>
          <a:noFill/>
          <a:ln w="2857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737360"/>
            <a:ext cx="2084832" cy="2103120"/>
          </a:xfrm>
          <a:prstGeom prst="roundRect">
            <a:avLst>
              <a:gd name="adj" fmla="val 5263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48656" y="1847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0E6"/>
                </a:solidFill>
              </a:rPr>
              <a:t>человек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21031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«ОК»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2807208"/>
            <a:ext cx="17556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0E6"/>
                </a:solidFill>
              </a:rPr>
              <a:t>подтверждение или правка текстом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87184" y="2743200"/>
            <a:ext cx="182880" cy="0"/>
          </a:xfrm>
          <a:prstGeom prst="line">
            <a:avLst/>
          </a:prstGeom>
          <a:noFill/>
          <a:ln w="2857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97496" y="1737360"/>
            <a:ext cx="2084832" cy="210312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62088" y="1847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правка диффузией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62088" y="21031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51D"/>
                </a:solidFill>
              </a:rPr>
              <a:t>3–4.5 мин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562088" y="2807208"/>
            <a:ext cx="17556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одна итерация FLUX; ×3 при автовалидации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0616" y="2743200"/>
            <a:ext cx="182880" cy="0"/>
          </a:xfrm>
          <a:prstGeom prst="line">
            <a:avLst/>
          </a:prstGeom>
          <a:noFill/>
          <a:ln w="2857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10928" y="1737360"/>
            <a:ext cx="2084832" cy="210312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0" y="1847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судья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21031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51D"/>
                </a:solidFill>
              </a:rPr>
              <a:t>≈ 1 мин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2807208"/>
            <a:ext cx="17556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Qwen2.5-VL-7b, три вызова на пару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DF0E7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4334256"/>
            <a:ext cx="5202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5568"/>
                </a:solidFill>
              </a:rPr>
              <a:t>Полный цикл на 100 вопросов ≈ 9 часов — почти всё время уходит на диффузию: 97 правок × 3–4.5 мин.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99632" y="420624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DF0E7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4334256"/>
            <a:ext cx="5202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5568"/>
                </a:solidFill>
              </a:rPr>
              <a:t>Без правок картинок система отвечает за ≈ 1 минуту; этого достаточно для интерактивного чата.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NL2SQL на русском: PAUQ, 100 пар вопросов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Одни и те же эталонные SQL, вопрос по-русски и по-английски; EX — совпадение строк результата с эталоном.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EX по-русски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5740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</a:rPr>
              <a:t>68%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761488"/>
            <a:ext cx="20482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ДИ 58–76%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82112" y="180136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EX по-английски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205740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2"/>
                </a:solidFill>
              </a:rPr>
              <a:t>76%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2761488"/>
            <a:ext cx="20482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ДИ 67–83%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1691640"/>
            <a:ext cx="6153912" cy="1737360"/>
          </a:xfrm>
          <a:prstGeom prst="roundRect">
            <a:avLst>
              <a:gd name="adj" fmla="val 6316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1819656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F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РАЗРЫВ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742432" y="2093976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8 п.п., значим: Макнемар p = 0.021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742432" y="2496312"/>
            <a:ext cx="5824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BFD0E6"/>
                </a:solidFill>
              </a:rPr>
              <a:t>оба верно 67 · только en 9 · только ru 1 · одинаковый SQL на двух языках 73/100. На 50 парах разрыв ещё не был значим (p = 0.25).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6400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325880"/>
                <a:gridCol w="13258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2"/>
                          </a:solidFill>
                        </a:rPr>
                        <a:t>конструкция gold-SQL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2"/>
                          </a:solidFill>
                        </a:rPr>
                        <a:t>n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2"/>
                          </a:solidFill>
                        </a:rPr>
                        <a:t>EX ru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2"/>
                          </a:solidFill>
                        </a:rPr>
                        <a:t>EX en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JOIN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35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332D"/>
                          </a:solidFill>
                        </a:rPr>
                        <a:t>40%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60%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GROUP BY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37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332D"/>
                          </a:solidFill>
                        </a:rPr>
                        <a:t>49%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65%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ORDER BY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26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69%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77%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WHERE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30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63%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63%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вложенный SELECT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17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59%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59%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068312" y="365760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32904" y="3785616"/>
            <a:ext cx="433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Где русский проседает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232904" y="4187952"/>
            <a:ext cx="43342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Соединения и группировки. Типовой сбой — лексика: «старшеклассник» превращается в лишний фильтр grade = 12 (3 из 9 ошибок только на русском).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Простые выборки и условия WHERE решаются одинаково на двух языках.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Весь путь до графика: 100 русских вопросов PAUQ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Из 9 874 вопросов PAUQ отобрано 959 пригодных для графика, из них 780 «сильных» (агрегат по группам, топ-N, динамика); взяты 91 из test и 9 из train.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93852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график построен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945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</a:rPr>
              <a:t>97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898648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0 повторных рендеров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193852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SQL-EX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21945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</a:rPr>
              <a:t>79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2898648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верный результат SQL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193852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Chart-EX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1945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</a:rPr>
              <a:t>80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898648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данные на графике = эталон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43416" y="182880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8008" y="193852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потери на стыке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21945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32D"/>
                </a:solidFill>
              </a:rPr>
              <a:t>3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9208008" y="2898648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SQL верный, график нет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2"/>
                          </a:solidFill>
                        </a:rPr>
                        <a:t>верный SQL → ?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2"/>
                          </a:solidFill>
                        </a:rPr>
                        <a:t>график верен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2"/>
                          </a:solidFill>
                        </a:rPr>
                        <a:t>график неверен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SQL верный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C8A3E"/>
                          </a:solidFill>
                        </a:rPr>
                        <a:t>76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32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SQL неверный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B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332D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336792" y="370332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01384" y="3831336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2"/>
                </a:solidFill>
              </a:rPr>
              <a:t>Chart-EX — новая метрика стыка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501384" y="4233672"/>
            <a:ext cx="50657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Числа каждой серии и подписи на графике сверяются с эталонным ответом. Ловит то, чего не видит EX: потерю строк при перегенерации pandas-кода.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Три потери: дата-число 19870119 прочитана как наносекунды (×2) и перепутанные оси в двухсерийном графике.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Правки «в стиле МТС»: судья по уровням сложности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0E6"/>
                </a:solidFill>
              </a:rPr>
              <a:t>Промпты трёх уровней из диплома 2 (цвет → форма элементов → реализм), 59 из 100 — с «яйцом»; бренд описан признаками (красный, белый, яйцо), т.к. диффузия бренда не знает. Оценено 82 правки, ещё 15 упали из-за памяти.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675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срез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правок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AP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уровень 1 · цвет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34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уровень 2 · форма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32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75%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91%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уровень 3 · реализм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16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81%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75%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62%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с яйцом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48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77%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85%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69%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без яйца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34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всего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82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82%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91%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77%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011680"/>
            <a:ext cx="4370832" cy="1417320"/>
          </a:xfrm>
          <a:prstGeom prst="roundRect">
            <a:avLst>
              <a:gd name="adj" fmla="val 7742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25512" y="2139696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Та же картина, что в дипломе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25512" y="2542032"/>
            <a:ext cx="4041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BFD0E6"/>
                </a:solidFill>
              </a:rPr>
              <a:t>Чем сложнее промпт, тем ниже AP; реализм чаще всего ломает данные (P 75%).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60920" y="3611880"/>
            <a:ext cx="4370832" cy="1828800"/>
          </a:xfrm>
          <a:prstGeom prst="roundRect">
            <a:avLst>
              <a:gd name="adj" fmla="val 6000"/>
            </a:avLst>
          </a:prstGeom>
          <a:solidFill>
            <a:srgbClr val="4A2A2A"/>
          </a:solidFill>
          <a:ln w="12700">
            <a:solidFill>
              <a:srgbClr val="7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25512" y="37307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Судья смещён в плюс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25512" y="40690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D0D0"/>
                </a:solidFill>
              </a:rPr>
              <a:t>«Яйца одного размера при разных значениях» получили P3 «пропорции сохранены». Это известно из диплома (κ ≈ 0.6); цифры AP — верхняя оценка.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8978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EA"/>
                </a:solidFill>
              </a:rPr>
              <a:t>Судья Qwen2.5-VL-7b, temperature 0; A / P / AP = все критерии группы пройдены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6E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пришлось чинить на стыке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3410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2"/>
                          </a:solidFill>
                        </a:rPr>
                        <a:t>Симптом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2"/>
                          </a:solidFill>
                        </a:rPr>
                        <a:t>Причина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2"/>
                          </a:solidFill>
                        </a:rPr>
                        <a:t>Исправление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График из одной точки: SQL-агент отвечает count(*) или AVG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В Spider/PAUQ числа объявлены как TEXT (MPG, Horsepower, строки «null»); узел не видел «меры» и просил добавить агрегат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sql_source: мера определяется по значениям, «null» — пропуск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Круговая диаграмма без подписей секторов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Планировщик читал «без оси X» буквально и выбрасывал колонку категорий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table_node: круговая без категорий → повторный план; подпись из индекса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Запрос к базе после ошибки идёт как новый вопрос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Любой текст при включённой галочке уходит SQL-агенту; роутер не учитывает состояние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Описано как ограничение; план — учитывать стадию при маршрутизации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Ответ в чате зависает, ошибок нет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code_executor: результат больше 64 КБ блокировал канал процесса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Чтение очереди до join; 5 тестов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Судья ставит всем 1.0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Валидатор работал на текстовой модели — картинки он не видел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VL-модель Qwen2.5-VL-7b, как в дипломе; парсер вердикта понимает строки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Цветовые правки не доходят до диффузии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Роутер правок по дизайну уводит «цвет, тип» в код matplotlib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2"/>
                          </a:solidFill>
                        </a:rPr>
                        <a:t>Сигнальные слова в промпте («нарисуй нейросетью»)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Покрытие: 61 тест в chart_agent (в т.ч. 44 на источник SQL), 72 — в sql_agent.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Ресурсы: модели не помещаются в память вместе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146304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2"/>
                          </a:solidFill>
                        </a:rPr>
                        <a:t>Компонент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2"/>
                          </a:solidFill>
                        </a:rPr>
                        <a:t>Модель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2"/>
                          </a:solidFill>
                        </a:rPr>
                        <a:t>Память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2"/>
                          </a:solidFill>
                        </a:rPr>
                        <a:t>Где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SQL-агент, 3 роли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Qwen 14B + LoRA, GGUF q4 × 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3 × 9 ГБ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Ollama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Оркестратор: намерение, план, код, промпт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qwen2.5-coder:14b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9 ГБ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Ollama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Судья правок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qwen2.5vl:7b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6 ГБ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Ollama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Правка картинок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FLUX.2 Klein 9B + LoRA, bf16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≈ 33 ГБ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diffusion_service, MPS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Безопасность и маршрутизация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GLiNER2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небольшая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guardrails_api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Оркестратор, executor, чат, Redis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&lt; 2 ГБ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2"/>
                          </a:solidFill>
                        </a:rPr>
                        <a:t>CPU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Если загрузить всё сразу — около 75 ГБ против 51.5 ГБ общей памяти Mac: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4526280"/>
            <a:ext cx="4058839" cy="54864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526280"/>
            <a:ext cx="4058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 LoRA-роли · 27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16039" y="4526280"/>
            <a:ext cx="1352946" cy="548640"/>
          </a:xfrm>
          <a:prstGeom prst="rect">
            <a:avLst/>
          </a:prstGeom>
          <a:solidFill>
            <a:srgbClr val="5B95DE"/>
          </a:solidFill>
          <a:ln w="12700">
            <a:solidFill>
              <a:srgbClr val="5B95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16039" y="4526280"/>
            <a:ext cx="1352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coder · 9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68985" y="4526280"/>
            <a:ext cx="901964" cy="548640"/>
          </a:xfrm>
          <a:prstGeom prst="rect">
            <a:avLst/>
          </a:prstGeom>
          <a:solidFill>
            <a:srgbClr val="8FB6EA"/>
          </a:solidFill>
          <a:ln w="12700">
            <a:solidFill>
              <a:srgbClr val="8FB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68985" y="4526280"/>
            <a:ext cx="901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2"/>
                </a:solidFill>
              </a:rPr>
              <a:t>VL · 6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70949" y="4526280"/>
            <a:ext cx="4960803" cy="548640"/>
          </a:xfrm>
          <a:prstGeom prst="rect">
            <a:avLst/>
          </a:prstGeom>
          <a:solidFill>
            <a:srgbClr val="E3651D"/>
          </a:solidFill>
          <a:ln w="12700">
            <a:solidFill>
              <a:srgbClr val="E3651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70949" y="4526280"/>
            <a:ext cx="49608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FLUX · 33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71627" y="4434840"/>
            <a:ext cx="54864" cy="731520"/>
          </a:xfrm>
          <a:prstGeom prst="rect">
            <a:avLst/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52578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432"/>
                </a:solidFill>
              </a:rPr>
              <a:t>▲ граница 51.5 ГБ: FLUX и LoRA-роли одновременно уходят в swap — отсюда ошибки 503 и 4.5 минуты на правку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7607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</a:rPr>
              <a:t>Размеры — по ollama list и логам diffusion_service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это работает на одной машине: три фазы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93592" cy="2514600"/>
          </a:xfrm>
          <a:prstGeom prst="roundRect">
            <a:avLst>
              <a:gd name="adj" fmla="val 4364"/>
            </a:avLst>
          </a:prstGeom>
          <a:solidFill>
            <a:srgbClr val="F2F3F5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9961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ФАЗА 1 · ДАННЫЕ И ГРАФИК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7393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432"/>
                </a:solidFill>
              </a:rPr>
              <a:t>36 ГБ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67712"/>
            <a:ext cx="3264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3 LoRA-роли + coder, модели держатся в памяти (KEEP_ALIVE 30 мин). Ответ ≈ 1 мин. Рабочий режим демо без правок картинок.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93592" cy="2514600"/>
          </a:xfrm>
          <a:prstGeom prst="roundRect">
            <a:avLst>
              <a:gd name="adj" fmla="val 4364"/>
            </a:avLst>
          </a:prstGeom>
          <a:solidFill>
            <a:srgbClr val="F2F3F5"/>
          </a:solidFill>
          <a:ln w="19050">
            <a:solidFill>
              <a:srgbClr val="E365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149961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3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ФАЗА 2 · ПРАВКА ДИФФУЗИЕЙ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62272" y="177393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432"/>
                </a:solidFill>
              </a:rPr>
              <a:t>42 ГБ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267712"/>
            <a:ext cx="3264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LoRA-роли выгружены, остаются coder + FLUX. 3–4.5 мин на картинку; при автовалидации ×3 и ещё VL-модель → swap.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93592" cy="2514600"/>
          </a:xfrm>
          <a:prstGeom prst="roundRect">
            <a:avLst>
              <a:gd name="adj" fmla="val 436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49961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B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ФАЗА 3 · СУДЬЯ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177393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432"/>
                </a:solidFill>
              </a:rPr>
              <a:t>6 ГБ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267712"/>
            <a:ext cx="3264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568"/>
                </a:solidFill>
              </a:rPr>
              <a:t>Диффузия остановлена, работает только Qwen2.5-VL. ≈ 1 мин на пару картинок.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532120" cy="1737360"/>
          </a:xfrm>
          <a:prstGeom prst="roundRect">
            <a:avLst>
              <a:gd name="adj" fmla="val 6316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4288536"/>
            <a:ext cx="5202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Диск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4690872"/>
            <a:ext cx="5202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BFD0E6"/>
                </a:solidFill>
              </a:rPr>
              <a:t>GGUF-модели 42 ГБ + веса FLUX (трансформер 17 ГБ и текстовый энкодер) ≈ 80 ГБ; базы PAUQ, Spider, BIRD, KaggleDBQA — ещё несколько ГБ.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4160520"/>
            <a:ext cx="5532120" cy="1737360"/>
          </a:xfrm>
          <a:prstGeom prst="roundRect">
            <a:avLst>
              <a:gd name="adj" fmla="val 6316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64224" y="4288536"/>
            <a:ext cx="5202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Цена одной машины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4690872"/>
            <a:ext cx="5202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BFD0E6"/>
                </a:solidFill>
              </a:rPr>
              <a:t>Один пользователь за раз; фазы переключаются скриптом; стек не переживает перезагрузку без ручного запуска; полный замер на 100 вопросов — рабочая ночь.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Масштабирование: что меняется при переезде на GPU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93592" cy="2834640"/>
          </a:xfrm>
          <a:prstGeom prst="roundRect">
            <a:avLst>
              <a:gd name="adj" fmla="val 3871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9961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B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СЕЙЧАС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739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2"/>
                </a:solidFill>
              </a:rPr>
              <a:t>Одна рабочая станция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48840"/>
            <a:ext cx="3264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1 пользователь, сервисы по фазам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LoRA = 3 копии базы по 9 ГБ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правка картинки 3–4.5 мин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100 вопросов с правками ≈ 9 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93592" cy="2834640"/>
          </a:xfrm>
          <a:prstGeom prst="roundRect">
            <a:avLst>
              <a:gd name="adj" fmla="val 3871"/>
            </a:avLst>
          </a:prstGeom>
          <a:solidFill>
            <a:srgbClr val="F2F3F5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149961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62272" y="17739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2"/>
                </a:solidFill>
              </a:rPr>
              <a:t>Сервер с двумя GPU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148840"/>
            <a:ext cx="3264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GPU A: vLLM, одна база Qwen 14B + 3 LoRA-адаптера + VL-судья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GPU B: FLUX.2 Klein 9B (bf16 ≈ 18 ГБ трансформер)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все фазы одновременно, батчинг запросов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правка — [__ с] вместо минут; [__] пользователей параллельно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93592" cy="2834640"/>
          </a:xfrm>
          <a:prstGeom prst="roundRect">
            <a:avLst>
              <a:gd name="adj" fmla="val 3871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49961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B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17739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2"/>
                </a:solidFill>
              </a:rPr>
              <a:t>Кластер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148840"/>
            <a:ext cx="3264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оркестратор, executor, guardrails — реплики за балансировщиком, состояние в Redis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диффузия — очередь задач и автоскейл по её длине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LLM-пул отдельно от диффузионного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судья — асинхронно, после ответа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4562856"/>
            <a:ext cx="5202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Почему делится именно так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4965192"/>
            <a:ext cx="5202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BFD0E6"/>
                </a:solidFill>
              </a:rPr>
              <a:t>Узкое место — диффузия: 97% времени цикла. LLM-часть отвечает за минуту и масштабируется батчингом; диффузию масштабируют числом GPU.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443484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64224" y="4562856"/>
            <a:ext cx="5202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Что уже готово к переезду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4965192"/>
            <a:ext cx="5202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BFD0E6"/>
                </a:solidFill>
              </a:rPr>
              <a:t>Dockerfile и compose у каждого сервиса, OpenAI-совместимый протокол (Ollama → vLLM без правок кода), адреса сервисов в .env, диффузия уже работала на GPU-хосте.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6400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[__] — требует замера на целевом GPU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Ограничения и следующие шаги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99616"/>
            <a:ext cx="5202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332D"/>
                </a:solidFill>
              </a:rPr>
              <a:t>Что ограничивает выводы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965960"/>
            <a:ext cx="52029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Судья завышает P: AP — верхняя оценка; нужна ручная разметка части русских правок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82 из 97 правок оценены: 15 упали из-за памяти, не из-за модели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В PAUQ почти нет динамики и рассеяний: 31 линия и 2 scatter из 780 сильных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Состояние чата: вопрос к базе во время ожидания «Подтвердить» уходит как правка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Все замеры — на одной машине, без GPU; цифры для сервера не измерены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9632" y="137160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64224" y="1499616"/>
            <a:ext cx="5202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</a:rPr>
              <a:t>Следующие шаги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64224" y="1965960"/>
            <a:ext cx="52029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Починить дату-число на стыке SQL → pandas (2 из 3 потерь)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Маршрутизация «вопрос к базе» по намерению, а не только по галочке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Переезд на GPU: vLLM multi-LoRA + отдельная GPU под FLUX, замер [__]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PAUQ на 300 парах и повтор правок на 3–5 seed — статистика вместо иллюстрации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Автозапуск стека: start_all.sh есть, нужен запуск как службы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Итог в пяти числах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130552" cy="2377440"/>
          </a:xfrm>
          <a:prstGeom prst="roundRect">
            <a:avLst>
              <a:gd name="adj" fmla="val 5150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5727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828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EA"/>
                </a:solidFill>
              </a:rPr>
              <a:t>68%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532888"/>
            <a:ext cx="18013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0E6"/>
                </a:solidFill>
              </a:rPr>
              <a:t>EX на русском PAUQ, 100 пар; на английском 76%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34056" y="1463040"/>
            <a:ext cx="2130552" cy="2377440"/>
          </a:xfrm>
          <a:prstGeom prst="roundRect">
            <a:avLst>
              <a:gd name="adj" fmla="val 5150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8648" y="15727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898648" y="1828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EA"/>
                </a:solidFill>
              </a:rPr>
              <a:t>80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532888"/>
            <a:ext cx="18013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0E6"/>
                </a:solidFill>
              </a:rPr>
              <a:t>из 100 графиков с верными данными; 3 потери на стыке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10912" y="1463040"/>
            <a:ext cx="2130552" cy="2377440"/>
          </a:xfrm>
          <a:prstGeom prst="roundRect">
            <a:avLst>
              <a:gd name="adj" fmla="val 5150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5727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1828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07A"/>
                </a:solidFill>
              </a:rPr>
              <a:t>77%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175504" y="2532888"/>
            <a:ext cx="18013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0E6"/>
                </a:solidFill>
              </a:rPr>
              <a:t>AP правок «в стиле МТС» по судье; 88% → 62% от цвета к реализму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87768" y="1463040"/>
            <a:ext cx="2130552" cy="2377440"/>
          </a:xfrm>
          <a:prstGeom prst="roundRect">
            <a:avLst>
              <a:gd name="adj" fmla="val 5150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15727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1828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07A"/>
                </a:solidFill>
              </a:rPr>
              <a:t>≈ 1 мин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2532888"/>
            <a:ext cx="18013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0E6"/>
                </a:solidFill>
              </a:rPr>
              <a:t>от вопроса до графика на одной машине; правка 3–4.5 мин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64624" y="1463040"/>
            <a:ext cx="2130552" cy="2377440"/>
          </a:xfrm>
          <a:prstGeom prst="roundRect">
            <a:avLst>
              <a:gd name="adj" fmla="val 5150"/>
            </a:avLst>
          </a:prstGeom>
          <a:solidFill>
            <a:srgbClr val="223049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29216" y="15727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729216" y="1828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07A"/>
                </a:solidFill>
              </a:rPr>
              <a:t>75 ГБ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729216" y="2532888"/>
            <a:ext cx="18013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0E6"/>
                </a:solidFill>
              </a:rPr>
              <a:t>нужно всем моделям сразу; есть 51.5 — отсюда фазы и план на 2 GPU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Интеграция свелась к одному узлу графа и переключателю в чате; всё, что пришлось чинить, лежало на границах сервисов, а не в моделях. Метрика Chart-EX закрывает именно этот слой.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303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отчёты: PAUQ_РАЗБОР_100 · ГРАФИКИ_PAUQ_ОТЧЁТ · МТС_ПРАВКИ · PAUQ_ГРАФИКИ_ОТБОР · github.com/kocharyandr/nl2g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6E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2G">
  <a:themeElements>
    <a:clrScheme name="NL2G">
      <a:dk1>
        <a:srgbClr val="1B2432"/>
      </a:dk1>
      <a:lt1>
        <a:srgbClr val="FFFFFF"/>
      </a:lt1>
      <a:dk2>
        <a:srgbClr val="4A5568"/>
      </a:dk2>
      <a:lt2>
        <a:srgbClr val="F2F3F5"/>
      </a:lt2>
      <a:accent1>
        <a:srgbClr val="2A78D6"/>
      </a:accent1>
      <a:accent2>
        <a:srgbClr val="E3651D"/>
      </a:accent2>
      <a:accent3>
        <a:srgbClr val="E30611"/>
      </a:accent3>
      <a:accent4>
        <a:srgbClr val="0C8A3E"/>
      </a:accent4>
      <a:accent5>
        <a:srgbClr val="C8332D"/>
      </a:accent5>
      <a:accent6>
        <a:srgbClr val="223049"/>
      </a:accent6>
      <a:hlink>
        <a:srgbClr val="2A78D6"/>
      </a:hlink>
      <a:folHlink>
        <a:srgbClr val="4A5568"/>
      </a:folHlink>
    </a:clrScheme>
    <a:fontScheme name="NL2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NL2G: NL2SQL и генеративные графики</dc:title>
  <dc:subject>PptxGenJS Presentation</dc:subject>
  <dc:creator>kocharyandr</dc:creator>
  <cp:lastModifiedBy>kocharyandr</cp:lastModifiedBy>
  <cp:revision>1</cp:revision>
  <dcterms:created xsi:type="dcterms:W3CDTF">2026-10-12T19:09:31Z</dcterms:created>
  <dcterms:modified xsi:type="dcterms:W3CDTF">2026-10-12T19:09:31Z</dcterms:modified>
</cp:coreProperties>
</file>